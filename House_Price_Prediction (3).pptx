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C70964E-7901-C409-1629-C1FF15C848F9}">
          <p14:sldIdLst>
            <p14:sldId id="256"/>
            <p14:sldId id="257"/>
            <p14:sldId id="258"/>
          </p14:sldIdLst>
        </p14:section>
        <p14:section name="Method" id="{55395F88-0A69-343B-00BB-02CDC9ECE92D}">
          <p14:sldIdLst>
            <p14:sldId id="259"/>
            <p14:sldId id="260"/>
            <p14:sldId id="261"/>
            <p14:sldId id="262"/>
          </p14:sldIdLst>
        </p14:section>
        <p14:section name="Application and Results" id="{AA65C94A-39C4-DE38-95D2-86FD3A1C2AB6}">
          <p14:sldIdLst>
            <p14:sldId id="263"/>
            <p14:sldId id="264"/>
          </p14:sldIdLst>
        </p14:section>
        <p14:section name="Conclusion" id="{32C3121E-04B8-E3FE-F028-54DF2EA02086}">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presProps" Target="pres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notesMaster" Target="notesMasters/notesMaster1.xml" /><Relationship Id="rId2" Type="http://schemas.openxmlformats.org/officeDocument/2006/relationships/slide" Target="slides/slide1.xml" /><Relationship Id="rId16"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theme" Target="theme/theme1.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viewProps" Target="view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64F4CBFA-1346-9C43-9D07-197CFC269F66}" type="datetimeFigureOut">
              <a:rPr lang="en-US" smtClean="0"/>
              <a:t>10/9/2026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921F1D3F-9E75-9744-8544-1A85D515EFEF}" type="slidenum">
              <a:rPr lang="en-US" smtClean="0"/>
              <a:t>‹#›</a:t>
            </a:fld>
            <a:endParaRPr lang="en-US"/>
          </a:p>
        </p:txBody>
      </p:sp>
    </p:spTree>
    <p:extLst>
      <p:ext uri="{BB962C8B-B14F-4D97-AF65-F5344CB8AC3E}">
        <p14:creationId xmlns:p14="http://schemas.microsoft.com/office/powerpoint/2010/main" val="45081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machine learning system that predicts Hyderabad house prices from area, bedrooms and location, delivered as a Streamlit web app. Mention the team and the guide.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manual price estimation fails: several factors interact, estimates differ from person to person, and collecting comparables is slow. A data-driven regression model addresses all three.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objectives: prepare data, engineer features, train and evaluate the Random Forest, then deploy it as a web application.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stages: raw data is cleaned, converted to features, split 80:20, used to train the Random Forest, evaluated on the test set, then saved and served through the web app.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has four columns. Bedrooms are extracted from text, location is one-hot encoded with pd.get_dummies, and rows with missing or invalid values are removed. The feature matrix combines area, bedrooms and the location columns; price is the target.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decision tree can overfit. A Random Forest trains many trees on different random samples and averages their predictions, which lowers variance. This project uses 200 trees, a fixed random seed for repeatability, and all CPU cores.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standard regression metrics from scikit-learn, computed on the held-out 20% test set by train_model.py.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trained model and its feature columns are saved with pickle. The Streamlit app app.py loads them, takes location, area and bedrooms, and returns the estimated price and the price per square foot (price x 100000 / area).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1500 sq. ft., 3-bedroom property in Kokapet, the app estimated 1.32 crores (132.09 lakhs), about 8,806 rupees per square foot. The figures agree with each other. Test-set metric values are printed when train_model.py is run.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expected outcome and the conclusion, then mention the future work: more features, model comparison, tuning and online deployment.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960120"/>
            <a:ext cx="5120640" cy="219456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3" name="Text 0"/>
          <p:cNvSpPr>
            <a:spLocks noGrp="1"/>
          </p:cNvSpPr>
          <p:nvPr>
            <p:ph type="body" idx="101" hasCustomPrompt="1"/>
          </p:nvPr>
        </p:nvSpPr>
        <p:spPr>
          <a:xfrm>
            <a:off x="548640" y="3291840"/>
            <a:ext cx="4937760" cy="822960"/>
          </a:xfrm>
          <a:prstGeom prst="rect">
            <a:avLst/>
          </a:prstGeom>
          <a:noFill/>
          <a:ln/>
        </p:spPr>
        <p:txBody>
          <a:bodyPr wrap="square" rtlCol="0"/>
          <a:lstStyle>
            <a:lvl1pPr marL="0" indent="0" algn="l">
              <a:buNone/>
              <a:defRPr lang="en-US" sz="1600" dirty="0">
                <a:solidFill>
                  <a:schemeClr val="bg2"/>
                </a:solidFill>
              </a:defRPr>
            </a:lvl1pPr>
          </a:lstStyle>
          <a:p>
            <a:pPr marL="0" indent="0" algn="l">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4"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2.xml" /><Relationship Id="rId1" Type="http://schemas.openxmlformats.org/officeDocument/2006/relationships/slideLayout" Target="../slideLayouts/slideLayout3.xml" /><Relationship Id="rId5" Type="http://schemas.openxmlformats.org/officeDocument/2006/relationships/image" Target="../media/image3.png" /><Relationship Id="rId4" Type="http://schemas.openxmlformats.org/officeDocument/2006/relationships/image" Target="../media/image2.png"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3.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3.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3.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3.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3.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3.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3.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3.xml" /></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48640"/>
            <a:ext cx="5120640" cy="274320"/>
          </a:xfrm>
          <a:prstGeom prst="rect">
            <a:avLst/>
          </a:prstGeom>
          <a:noFill/>
          <a:ln/>
        </p:spPr>
        <p:txBody>
          <a:bodyPr wrap="square" lIns="0" tIns="0" rIns="0" bIns="0" rtlCol="0" anchor="t"/>
          <a:lstStyle/>
          <a:p>
            <a:pPr marL="0" indent="0" algn="l">
              <a:buNone/>
            </a:pPr>
            <a:r>
              <a:rPr lang="en-US" sz="1200" b="1" dirty="0">
                <a:solidFill>
                  <a:schemeClr val="accent1"/>
                </a:solidFill>
              </a:rPr>
              <a:t>PROJECT BASED LEARNING  ·  MACHINE LEARNING</a:t>
            </a:r>
            <a:endParaRPr lang="en-US" sz="1200" dirty="0"/>
          </a:p>
        </p:txBody>
      </p:sp>
      <p:sp>
        <p:nvSpPr>
          <p:cNvPr id="3" name="Text 0"/>
          <p:cNvSpPr>
            <a:spLocks noGrp="1"/>
          </p:cNvSpPr>
          <p:nvPr>
            <p:ph type="title" idx="100" hasCustomPrompt="1"/>
          </p:nvPr>
        </p:nvSpPr>
        <p:spPr>
          <a:xfrm>
            <a:off x="548640" y="960120"/>
            <a:ext cx="5120640" cy="2194560"/>
          </a:xfrm>
          <a:prstGeom prst="rect">
            <a:avLst/>
          </a:prstGeom>
          <a:noFill/>
          <a:ln/>
        </p:spPr>
        <p:txBody>
          <a:bodyPr wrap="square" lIns="0" tIns="0" rIns="0" bIns="0" rtlCol="0" anchor="t"/>
          <a:lstStyle/>
          <a:p>
            <a:pPr marL="0" indent="0" algn="l">
              <a:buNone/>
            </a:pPr>
            <a:r>
              <a:rPr lang="en-US" sz="3400" b="1" dirty="0">
                <a:solidFill>
                  <a:schemeClr val="bg1"/>
                </a:solidFill>
              </a:rPr>
              <a:t>House Price Prediction using Machine Learning</a:t>
            </a:r>
            <a:endParaRPr lang="en-US" sz="3400" dirty="0"/>
          </a:p>
        </p:txBody>
      </p:sp>
      <p:sp>
        <p:nvSpPr>
          <p:cNvPr id="4" name="Text 0"/>
          <p:cNvSpPr>
            <a:spLocks noGrp="1"/>
          </p:cNvSpPr>
          <p:nvPr>
            <p:ph type="body" idx="101" hasCustomPrompt="1"/>
          </p:nvPr>
        </p:nvSpPr>
        <p:spPr>
          <a:xfrm>
            <a:off x="548640" y="3291840"/>
            <a:ext cx="4937760" cy="822960"/>
          </a:xfrm>
          <a:prstGeom prst="rect">
            <a:avLst/>
          </a:prstGeom>
          <a:noFill/>
          <a:ln/>
        </p:spPr>
        <p:txBody>
          <a:bodyPr wrap="square" lIns="0" tIns="0" rIns="0" bIns="0" rtlCol="0" anchor="t"/>
          <a:lstStyle/>
          <a:p>
            <a:pPr marL="0" indent="0" algn="l">
              <a:buNone/>
            </a:pPr>
            <a:r>
              <a:rPr lang="en-US" sz="1600" dirty="0">
                <a:solidFill>
                  <a:schemeClr val="bg2"/>
                </a:solidFill>
              </a:rPr>
              <a:t>Estimating Hyderabad property prices from area, bedrooms and location with a Random Forest</a:t>
            </a:r>
            <a:endParaRPr lang="en-US" sz="1600" dirty="0"/>
          </a:p>
        </p:txBody>
      </p:sp>
      <p:sp>
        <p:nvSpPr>
          <p:cNvPr id="5" name="Text 3"/>
          <p:cNvSpPr txBox="1"/>
          <p:nvPr/>
        </p:nvSpPr>
        <p:spPr>
          <a:xfrm>
            <a:off x="548640" y="4343400"/>
            <a:ext cx="5120640" cy="457200"/>
          </a:xfrm>
          <a:prstGeom prst="rect">
            <a:avLst/>
          </a:prstGeom>
          <a:noFill/>
          <a:ln/>
        </p:spPr>
        <p:txBody>
          <a:bodyPr wrap="square" lIns="0" tIns="0" rIns="0" bIns="0" rtlCol="0" anchor="t"/>
          <a:lstStyle/>
          <a:p>
            <a:pPr marL="0" indent="0" algn="l">
              <a:buNone/>
            </a:pPr>
            <a:r>
              <a:rPr lang="en-US" sz="1200" dirty="0">
                <a:solidFill>
                  <a:schemeClr val="bg2"/>
                </a:solidFill>
              </a:rPr>
              <a:t>Department of AI &amp; Data Science  ·  Koneru Lakshmaiah Education Foundation, Aziz Nagar  ·  Oct 2026</a:t>
            </a:r>
            <a:endParaRPr lang="en-US" sz="1200" dirty="0"/>
          </a:p>
        </p:txBody>
      </p:sp>
      <p:sp>
        <p:nvSpPr>
          <p:cNvPr id="6" name="Team card"/>
          <p:cNvSpPr/>
          <p:nvPr/>
        </p:nvSpPr>
        <p:spPr>
          <a:xfrm>
            <a:off x="5943600" y="548640"/>
            <a:ext cx="2743200" cy="4069080"/>
          </a:xfrm>
          <a:prstGeom prst="roundRect">
            <a:avLst>
              <a:gd name="adj" fmla="val 4000"/>
            </a:avLst>
          </a:prstGeom>
          <a:solidFill>
            <a:schemeClr val="bg2"/>
          </a:solidFill>
          <a:ln w="12700">
            <a:solidFill>
              <a:schemeClr val="bg2"/>
            </a:solidFill>
            <a:prstDash val="solid"/>
          </a:ln>
        </p:spPr>
      </p:sp>
      <p:sp>
        <p:nvSpPr>
          <p:cNvPr id="7" name="Text 5"/>
          <p:cNvSpPr txBox="1"/>
          <p:nvPr/>
        </p:nvSpPr>
        <p:spPr>
          <a:xfrm>
            <a:off x="6217920" y="777240"/>
            <a:ext cx="2286000" cy="228600"/>
          </a:xfrm>
          <a:prstGeom prst="rect">
            <a:avLst/>
          </a:prstGeom>
          <a:noFill/>
          <a:ln/>
        </p:spPr>
        <p:txBody>
          <a:bodyPr wrap="square" lIns="0" tIns="0" rIns="0" bIns="0" rtlCol="0" anchor="t"/>
          <a:lstStyle/>
          <a:p>
            <a:pPr marL="0" indent="0" algn="l">
              <a:buNone/>
            </a:pPr>
            <a:r>
              <a:rPr lang="en-US" sz="1200" b="1" dirty="0">
                <a:solidFill>
                  <a:schemeClr val="accent2"/>
                </a:solidFill>
              </a:rPr>
              <a:t>SUBMITTED BY</a:t>
            </a:r>
            <a:endParaRPr lang="en-US" sz="1200" dirty="0"/>
          </a:p>
        </p:txBody>
      </p:sp>
      <p:sp>
        <p:nvSpPr>
          <p:cNvPr id="8" name="Text 6"/>
          <p:cNvSpPr txBox="1"/>
          <p:nvPr/>
        </p:nvSpPr>
        <p:spPr>
          <a:xfrm>
            <a:off x="6217920" y="1097280"/>
            <a:ext cx="2286000" cy="502920"/>
          </a:xfrm>
          <a:prstGeom prst="rect">
            <a:avLst/>
          </a:prstGeom>
          <a:noFill/>
          <a:ln/>
        </p:spPr>
        <p:txBody>
          <a:bodyPr wrap="square" lIns="0" tIns="0" rIns="0" bIns="0" rtlCol="0" anchor="t"/>
          <a:lstStyle/>
          <a:p>
            <a:pPr marL="0" indent="0" algn="l">
              <a:buNone/>
            </a:pPr>
            <a:r>
              <a:rPr lang="en-US" sz="1500" b="1" dirty="0">
                <a:solidFill>
                  <a:schemeClr val="tx1"/>
                </a:solidFill>
              </a:rPr>
              <a:t>Akshay Chandra</a:t>
            </a:r>
            <a:endParaRPr lang="en-US" sz="1400" dirty="0"/>
          </a:p>
          <a:p>
            <a:pPr marL="0" indent="0" algn="l">
              <a:buNone/>
            </a:pPr>
            <a:r>
              <a:rPr lang="en-US" sz="1200" dirty="0">
                <a:solidFill>
                  <a:schemeClr val="tx1"/>
                </a:solidFill>
              </a:rPr>
              <a:t>2510080055</a:t>
            </a:r>
            <a:endParaRPr lang="en-US" sz="1400" dirty="0"/>
          </a:p>
        </p:txBody>
      </p:sp>
      <p:sp>
        <p:nvSpPr>
          <p:cNvPr id="9" name="Text 7"/>
          <p:cNvSpPr txBox="1"/>
          <p:nvPr/>
        </p:nvSpPr>
        <p:spPr>
          <a:xfrm>
            <a:off x="6217920" y="1719072"/>
            <a:ext cx="2286000" cy="502920"/>
          </a:xfrm>
          <a:prstGeom prst="rect">
            <a:avLst/>
          </a:prstGeom>
          <a:noFill/>
          <a:ln/>
        </p:spPr>
        <p:txBody>
          <a:bodyPr wrap="square" lIns="0" tIns="0" rIns="0" bIns="0" rtlCol="0" anchor="t"/>
          <a:lstStyle/>
          <a:p>
            <a:pPr marL="0" indent="0" algn="l">
              <a:buNone/>
            </a:pPr>
            <a:r>
              <a:rPr lang="en-US" sz="1500" b="1" dirty="0">
                <a:solidFill>
                  <a:schemeClr val="tx1"/>
                </a:solidFill>
              </a:rPr>
              <a:t>Manoj</a:t>
            </a:r>
            <a:endParaRPr lang="en-US" sz="1400" dirty="0"/>
          </a:p>
          <a:p>
            <a:pPr marL="0" indent="0" algn="l">
              <a:buNone/>
            </a:pPr>
            <a:r>
              <a:rPr lang="en-US" sz="1200" dirty="0">
                <a:solidFill>
                  <a:schemeClr val="tx1"/>
                </a:solidFill>
              </a:rPr>
              <a:t>2510080052</a:t>
            </a:r>
            <a:endParaRPr lang="en-US" sz="1400" dirty="0"/>
          </a:p>
        </p:txBody>
      </p:sp>
      <p:sp>
        <p:nvSpPr>
          <p:cNvPr id="10" name="Text 8"/>
          <p:cNvSpPr txBox="1"/>
          <p:nvPr/>
        </p:nvSpPr>
        <p:spPr>
          <a:xfrm>
            <a:off x="6217920" y="2340864"/>
            <a:ext cx="2286000" cy="502920"/>
          </a:xfrm>
          <a:prstGeom prst="rect">
            <a:avLst/>
          </a:prstGeom>
          <a:noFill/>
          <a:ln/>
        </p:spPr>
        <p:txBody>
          <a:bodyPr wrap="square" lIns="0" tIns="0" rIns="0" bIns="0" rtlCol="0" anchor="t"/>
          <a:lstStyle/>
          <a:p>
            <a:pPr marL="0" indent="0" algn="l">
              <a:buNone/>
            </a:pPr>
            <a:r>
              <a:rPr lang="en-US" sz="1500" b="1" dirty="0">
                <a:solidFill>
                  <a:schemeClr val="tx1"/>
                </a:solidFill>
              </a:rPr>
              <a:t>Pranith Reddy</a:t>
            </a:r>
            <a:endParaRPr lang="en-US" sz="1400" dirty="0"/>
          </a:p>
          <a:p>
            <a:pPr marL="0" indent="0" algn="l">
              <a:buNone/>
            </a:pPr>
            <a:r>
              <a:rPr lang="en-US" sz="1200" dirty="0">
                <a:solidFill>
                  <a:schemeClr val="tx1"/>
                </a:solidFill>
              </a:rPr>
              <a:t>2510080051</a:t>
            </a:r>
            <a:endParaRPr lang="en-US" sz="1400" dirty="0"/>
          </a:p>
        </p:txBody>
      </p:sp>
      <p:sp>
        <p:nvSpPr>
          <p:cNvPr id="11" name="Text 9"/>
          <p:cNvSpPr txBox="1"/>
          <p:nvPr/>
        </p:nvSpPr>
        <p:spPr>
          <a:xfrm>
            <a:off x="6217920" y="2962656"/>
            <a:ext cx="2286000" cy="502920"/>
          </a:xfrm>
          <a:prstGeom prst="rect">
            <a:avLst/>
          </a:prstGeom>
          <a:noFill/>
          <a:ln/>
        </p:spPr>
        <p:txBody>
          <a:bodyPr wrap="square" lIns="0" tIns="0" rIns="0" bIns="0" rtlCol="0" anchor="t"/>
          <a:lstStyle/>
          <a:p>
            <a:pPr marL="0" indent="0" algn="l">
              <a:buNone/>
            </a:pPr>
            <a:r>
              <a:rPr lang="en-US" sz="1500" b="1" dirty="0">
                <a:solidFill>
                  <a:schemeClr val="tx1"/>
                </a:solidFill>
              </a:rPr>
              <a:t>Sai Charan</a:t>
            </a:r>
            <a:endParaRPr lang="en-US" sz="1400" dirty="0"/>
          </a:p>
          <a:p>
            <a:pPr marL="0" indent="0" algn="l">
              <a:buNone/>
            </a:pPr>
            <a:r>
              <a:rPr lang="en-US" sz="1200" dirty="0">
                <a:solidFill>
                  <a:schemeClr val="tx1"/>
                </a:solidFill>
              </a:rPr>
              <a:t>2510080053</a:t>
            </a:r>
            <a:endParaRPr lang="en-US" sz="1400" dirty="0"/>
          </a:p>
        </p:txBody>
      </p:sp>
      <p:sp>
        <p:nvSpPr>
          <p:cNvPr id="12" name="Text 10"/>
          <p:cNvSpPr txBox="1"/>
          <p:nvPr/>
        </p:nvSpPr>
        <p:spPr>
          <a:xfrm>
            <a:off x="6217920" y="3648456"/>
            <a:ext cx="2286000" cy="228600"/>
          </a:xfrm>
          <a:prstGeom prst="rect">
            <a:avLst/>
          </a:prstGeom>
          <a:noFill/>
          <a:ln/>
        </p:spPr>
        <p:txBody>
          <a:bodyPr wrap="square" lIns="0" tIns="0" rIns="0" bIns="0" rtlCol="0" anchor="t"/>
          <a:lstStyle/>
          <a:p>
            <a:pPr marL="0" indent="0" algn="l">
              <a:buNone/>
            </a:pPr>
            <a:r>
              <a:rPr lang="en-US" sz="1200" b="1" dirty="0">
                <a:solidFill>
                  <a:schemeClr val="accent2"/>
                </a:solidFill>
              </a:rPr>
              <a:t>GUIDE</a:t>
            </a:r>
            <a:endParaRPr lang="en-US" sz="1200" dirty="0"/>
          </a:p>
        </p:txBody>
      </p:sp>
      <p:sp>
        <p:nvSpPr>
          <p:cNvPr id="13" name="Text 11"/>
          <p:cNvSpPr txBox="1"/>
          <p:nvPr/>
        </p:nvSpPr>
        <p:spPr>
          <a:xfrm>
            <a:off x="6217920" y="3931920"/>
            <a:ext cx="2286000" cy="274320"/>
          </a:xfrm>
          <a:prstGeom prst="rect">
            <a:avLst/>
          </a:prstGeom>
          <a:noFill/>
          <a:ln/>
        </p:spPr>
        <p:txBody>
          <a:bodyPr wrap="square" lIns="0" tIns="0" rIns="0" bIns="0" rtlCol="0" anchor="t"/>
          <a:lstStyle/>
          <a:p>
            <a:pPr marL="0" indent="0" algn="l">
              <a:buNone/>
            </a:pPr>
            <a:r>
              <a:rPr lang="en-US" sz="1500" b="1" dirty="0">
                <a:solidFill>
                  <a:schemeClr val="tx1"/>
                </a:solidFill>
              </a:rPr>
              <a:t>Gangamohan Paidi</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rPr>
              <a:t>Problem Statement</a:t>
            </a:r>
            <a:endParaRPr lang="en-US" sz="3200" dirty="0"/>
          </a:p>
        </p:txBody>
      </p:sp>
      <p:sp>
        <p:nvSpPr>
          <p:cNvPr id="3" name="Problem card"/>
          <p:cNvSpPr/>
          <p:nvPr/>
        </p:nvSpPr>
        <p:spPr>
          <a:xfrm>
            <a:off x="457200" y="1188720"/>
            <a:ext cx="3840480" cy="2743200"/>
          </a:xfrm>
          <a:prstGeom prst="roundRect">
            <a:avLst>
              <a:gd name="adj" fmla="val 4000"/>
            </a:avLst>
          </a:prstGeom>
          <a:solidFill>
            <a:schemeClr val="tx2"/>
          </a:solidFill>
          <a:ln w="12700">
            <a:solidFill>
              <a:schemeClr val="tx2"/>
            </a:solidFill>
            <a:prstDash val="solid"/>
          </a:ln>
        </p:spPr>
      </p:sp>
      <p:sp>
        <p:nvSpPr>
          <p:cNvPr id="4" name="Text 2"/>
          <p:cNvSpPr txBox="1"/>
          <p:nvPr/>
        </p:nvSpPr>
        <p:spPr>
          <a:xfrm>
            <a:off x="731520" y="1417320"/>
            <a:ext cx="3291840" cy="228600"/>
          </a:xfrm>
          <a:prstGeom prst="rect">
            <a:avLst/>
          </a:prstGeom>
          <a:noFill/>
          <a:ln/>
        </p:spPr>
        <p:txBody>
          <a:bodyPr wrap="square" lIns="0" tIns="0" rIns="0" bIns="0" rtlCol="0" anchor="t"/>
          <a:lstStyle/>
          <a:p>
            <a:pPr marL="0" indent="0" algn="l">
              <a:buNone/>
            </a:pPr>
            <a:r>
              <a:rPr lang="en-US" sz="1200" b="1" dirty="0">
                <a:solidFill>
                  <a:schemeClr val="accent1"/>
                </a:solidFill>
              </a:rPr>
              <a:t>THE PROBLEM</a:t>
            </a:r>
            <a:endParaRPr lang="en-US" sz="1200" dirty="0"/>
          </a:p>
        </p:txBody>
      </p:sp>
      <p:sp>
        <p:nvSpPr>
          <p:cNvPr id="5" name="Text 3"/>
          <p:cNvSpPr txBox="1"/>
          <p:nvPr/>
        </p:nvSpPr>
        <p:spPr>
          <a:xfrm>
            <a:off x="731520" y="1737360"/>
            <a:ext cx="3291840" cy="1463040"/>
          </a:xfrm>
          <a:prstGeom prst="rect">
            <a:avLst/>
          </a:prstGeom>
          <a:noFill/>
          <a:ln/>
        </p:spPr>
        <p:txBody>
          <a:bodyPr wrap="square" lIns="0" tIns="0" rIns="0" bIns="0" rtlCol="0" anchor="t"/>
          <a:lstStyle/>
          <a:p>
            <a:pPr marL="0" indent="0" algn="l">
              <a:buNone/>
            </a:pPr>
            <a:r>
              <a:rPr lang="en-US" sz="1800" dirty="0">
                <a:solidFill>
                  <a:schemeClr val="bg1"/>
                </a:solidFill>
              </a:rPr>
              <a:t>House prices in Hyderabad depend on location, built-up area and number of bedrooms together, so manual estimation is unreliable.</a:t>
            </a:r>
            <a:endParaRPr lang="en-US" sz="1800" dirty="0"/>
          </a:p>
        </p:txBody>
      </p:sp>
      <p:sp>
        <p:nvSpPr>
          <p:cNvPr id="6" name="Text 4"/>
          <p:cNvSpPr txBox="1"/>
          <p:nvPr/>
        </p:nvSpPr>
        <p:spPr>
          <a:xfrm>
            <a:off x="731520" y="3291840"/>
            <a:ext cx="3291840" cy="457200"/>
          </a:xfrm>
          <a:prstGeom prst="rect">
            <a:avLst/>
          </a:prstGeom>
          <a:noFill/>
          <a:ln/>
        </p:spPr>
        <p:txBody>
          <a:bodyPr wrap="square" lIns="0" tIns="0" rIns="0" bIns="0" rtlCol="0" anchor="t"/>
          <a:lstStyle/>
          <a:p>
            <a:pPr marL="0" indent="0" algn="l">
              <a:buNone/>
            </a:pPr>
            <a:r>
              <a:rPr lang="en-US" sz="1400" dirty="0">
                <a:solidFill>
                  <a:schemeClr val="bg2"/>
                </a:solidFill>
              </a:rPr>
              <a:t>Type: supervised regression. Property details in, price out.</a:t>
            </a:r>
            <a:endParaRPr lang="en-US" sz="1400" dirty="0"/>
          </a:p>
        </p:txBody>
      </p:sp>
      <p:sp>
        <p:nvSpPr>
          <p:cNvPr id="7" name="Icon circle"/>
          <p:cNvSpPr/>
          <p:nvPr/>
        </p:nvSpPr>
        <p:spPr>
          <a:xfrm>
            <a:off x="4572000" y="1353312"/>
            <a:ext cx="548640" cy="548640"/>
          </a:xfrm>
          <a:prstGeom prst="ellipse">
            <a:avLst/>
          </a:prstGeom>
          <a:solidFill>
            <a:schemeClr val="accent2"/>
          </a:solidFill>
          <a:ln w="12700">
            <a:solidFill>
              <a:schemeClr val="accent2"/>
            </a:solidFill>
            <a:prstDash val="solid"/>
          </a:ln>
        </p:spPr>
      </p:sp>
      <p:pic>
        <p:nvPicPr>
          <p:cNvPr id="8" name="Image 0" descr="icon"/>
          <p:cNvPicPr>
            <a:picLocks noChangeAspect="1"/>
          </p:cNvPicPr>
          <p:nvPr/>
        </p:nvPicPr>
        <p:blipFill>
          <a:blip r:embed="rId3"/>
          <a:stretch>
            <a:fillRect/>
          </a:stretch>
        </p:blipFill>
        <p:spPr>
          <a:xfrm>
            <a:off x="4709160" y="1490472"/>
            <a:ext cx="274320" cy="274320"/>
          </a:xfrm>
          <a:prstGeom prst="rect">
            <a:avLst/>
          </a:prstGeom>
        </p:spPr>
      </p:pic>
      <p:sp>
        <p:nvSpPr>
          <p:cNvPr id="9" name="Text 6"/>
          <p:cNvSpPr txBox="1"/>
          <p:nvPr/>
        </p:nvSpPr>
        <p:spPr>
          <a:xfrm>
            <a:off x="5303520" y="1234440"/>
            <a:ext cx="3383280" cy="822960"/>
          </a:xfrm>
          <a:prstGeom prst="rect">
            <a:avLst/>
          </a:prstGeom>
          <a:noFill/>
          <a:ln/>
        </p:spPr>
        <p:txBody>
          <a:bodyPr wrap="square" lIns="0" tIns="0" rIns="0" bIns="0" rtlCol="0" anchor="t"/>
          <a:lstStyle/>
          <a:p>
            <a:pPr marL="0" indent="0" algn="l">
              <a:buNone/>
            </a:pPr>
            <a:r>
              <a:rPr lang="en-US" sz="1600" b="1" dirty="0">
                <a:solidFill>
                  <a:schemeClr val="tx1"/>
                </a:solidFill>
              </a:rPr>
              <a:t>Interacting factors</a:t>
            </a:r>
            <a:endParaRPr lang="en-US" sz="1400" dirty="0"/>
          </a:p>
          <a:p>
            <a:pPr marL="0" indent="0" algn="l">
              <a:buNone/>
            </a:pPr>
            <a:r>
              <a:rPr lang="en-US" sz="1400" dirty="0">
                <a:solidFill>
                  <a:schemeClr val="tx1"/>
                </a:solidFill>
              </a:rPr>
              <a:t>Location, area and bedrooms combine in complex ways</a:t>
            </a:r>
            <a:endParaRPr lang="en-US" sz="1400" dirty="0"/>
          </a:p>
        </p:txBody>
      </p:sp>
      <p:sp>
        <p:nvSpPr>
          <p:cNvPr id="10" name="Icon circle"/>
          <p:cNvSpPr/>
          <p:nvPr/>
        </p:nvSpPr>
        <p:spPr>
          <a:xfrm>
            <a:off x="4572000" y="2313432"/>
            <a:ext cx="548640" cy="548640"/>
          </a:xfrm>
          <a:prstGeom prst="ellipse">
            <a:avLst/>
          </a:prstGeom>
          <a:solidFill>
            <a:schemeClr val="accent2"/>
          </a:solidFill>
          <a:ln w="12700">
            <a:solidFill>
              <a:schemeClr val="accent2"/>
            </a:solidFill>
            <a:prstDash val="solid"/>
          </a:ln>
        </p:spPr>
      </p:sp>
      <p:pic>
        <p:nvPicPr>
          <p:cNvPr id="11" name="Image 1" descr="icon"/>
          <p:cNvPicPr>
            <a:picLocks noChangeAspect="1"/>
          </p:cNvPicPr>
          <p:nvPr/>
        </p:nvPicPr>
        <p:blipFill>
          <a:blip r:embed="rId4"/>
          <a:stretch>
            <a:fillRect/>
          </a:stretch>
        </p:blipFill>
        <p:spPr>
          <a:xfrm>
            <a:off x="4709160" y="2450592"/>
            <a:ext cx="274320" cy="274320"/>
          </a:xfrm>
          <a:prstGeom prst="rect">
            <a:avLst/>
          </a:prstGeom>
        </p:spPr>
      </p:pic>
      <p:sp>
        <p:nvSpPr>
          <p:cNvPr id="12" name="Text 8"/>
          <p:cNvSpPr txBox="1"/>
          <p:nvPr/>
        </p:nvSpPr>
        <p:spPr>
          <a:xfrm>
            <a:off x="5303520" y="2194560"/>
            <a:ext cx="3383280" cy="822960"/>
          </a:xfrm>
          <a:prstGeom prst="rect">
            <a:avLst/>
          </a:prstGeom>
          <a:noFill/>
          <a:ln/>
        </p:spPr>
        <p:txBody>
          <a:bodyPr wrap="square" lIns="0" tIns="0" rIns="0" bIns="0" rtlCol="0" anchor="t"/>
          <a:lstStyle/>
          <a:p>
            <a:pPr marL="0" indent="0" algn="l">
              <a:buNone/>
            </a:pPr>
            <a:r>
              <a:rPr lang="en-US" sz="1600" b="1" dirty="0">
                <a:solidFill>
                  <a:schemeClr val="tx1"/>
                </a:solidFill>
              </a:rPr>
              <a:t>Inconsistent estimates</a:t>
            </a:r>
            <a:endParaRPr lang="en-US" sz="1400" dirty="0"/>
          </a:p>
          <a:p>
            <a:pPr marL="0" indent="0" algn="l">
              <a:buNone/>
            </a:pPr>
            <a:r>
              <a:rPr lang="en-US" sz="1400" dirty="0">
                <a:solidFill>
                  <a:schemeClr val="tx1"/>
                </a:solidFill>
              </a:rPr>
              <a:t>Agents and buyers rely on rough guesses or a few listings</a:t>
            </a:r>
            <a:endParaRPr lang="en-US" sz="1400" dirty="0"/>
          </a:p>
        </p:txBody>
      </p:sp>
      <p:sp>
        <p:nvSpPr>
          <p:cNvPr id="13" name="Icon circle"/>
          <p:cNvSpPr/>
          <p:nvPr/>
        </p:nvSpPr>
        <p:spPr>
          <a:xfrm>
            <a:off x="4572000" y="3273552"/>
            <a:ext cx="548640" cy="548640"/>
          </a:xfrm>
          <a:prstGeom prst="ellipse">
            <a:avLst/>
          </a:prstGeom>
          <a:solidFill>
            <a:schemeClr val="accent2"/>
          </a:solidFill>
          <a:ln w="12700">
            <a:solidFill>
              <a:schemeClr val="accent2"/>
            </a:solidFill>
            <a:prstDash val="solid"/>
          </a:ln>
        </p:spPr>
      </p:sp>
      <p:pic>
        <p:nvPicPr>
          <p:cNvPr id="14" name="Image 2" descr="icon"/>
          <p:cNvPicPr>
            <a:picLocks noChangeAspect="1"/>
          </p:cNvPicPr>
          <p:nvPr/>
        </p:nvPicPr>
        <p:blipFill>
          <a:blip r:embed="rId5"/>
          <a:stretch>
            <a:fillRect/>
          </a:stretch>
        </p:blipFill>
        <p:spPr>
          <a:xfrm>
            <a:off x="4709160" y="3410712"/>
            <a:ext cx="274320" cy="274320"/>
          </a:xfrm>
          <a:prstGeom prst="rect">
            <a:avLst/>
          </a:prstGeom>
        </p:spPr>
      </p:pic>
      <p:sp>
        <p:nvSpPr>
          <p:cNvPr id="15" name="Text 10"/>
          <p:cNvSpPr txBox="1"/>
          <p:nvPr/>
        </p:nvSpPr>
        <p:spPr>
          <a:xfrm>
            <a:off x="5303520" y="3154680"/>
            <a:ext cx="3383280" cy="822960"/>
          </a:xfrm>
          <a:prstGeom prst="rect">
            <a:avLst/>
          </a:prstGeom>
          <a:noFill/>
          <a:ln/>
        </p:spPr>
        <p:txBody>
          <a:bodyPr wrap="square" lIns="0" tIns="0" rIns="0" bIns="0" rtlCol="0" anchor="t"/>
          <a:lstStyle/>
          <a:p>
            <a:pPr marL="0" indent="0" algn="l">
              <a:buNone/>
            </a:pPr>
            <a:r>
              <a:rPr lang="en-US" sz="1600" b="1" dirty="0">
                <a:solidFill>
                  <a:schemeClr val="tx1"/>
                </a:solidFill>
              </a:rPr>
              <a:t>Slow to collect</a:t>
            </a:r>
            <a:endParaRPr lang="en-US" sz="1400" dirty="0"/>
          </a:p>
          <a:p>
            <a:pPr marL="0" indent="0" algn="l">
              <a:buNone/>
            </a:pPr>
            <a:r>
              <a:rPr lang="en-US" sz="1400" dirty="0">
                <a:solidFill>
                  <a:schemeClr val="tx1"/>
                </a:solidFill>
              </a:rPr>
              <a:t>Comparing listings by hand takes time and varies by person</a:t>
            </a:r>
            <a:endParaRPr lang="en-US" sz="1400" dirty="0"/>
          </a:p>
        </p:txBody>
      </p:sp>
      <p:sp>
        <p:nvSpPr>
          <p:cNvPr id="16" name="Need banner"/>
          <p:cNvSpPr/>
          <p:nvPr/>
        </p:nvSpPr>
        <p:spPr>
          <a:xfrm>
            <a:off x="457200" y="4114800"/>
            <a:ext cx="8229600" cy="594360"/>
          </a:xfrm>
          <a:prstGeom prst="roundRect">
            <a:avLst>
              <a:gd name="adj" fmla="val 18462"/>
            </a:avLst>
          </a:prstGeom>
          <a:solidFill>
            <a:schemeClr val="accent1"/>
          </a:solidFill>
          <a:ln w="12700">
            <a:solidFill>
              <a:schemeClr val="accent1"/>
            </a:solidFill>
            <a:prstDash val="solid"/>
          </a:ln>
        </p:spPr>
      </p:sp>
      <p:sp>
        <p:nvSpPr>
          <p:cNvPr id="17" name="Text 12"/>
          <p:cNvSpPr txBox="1"/>
          <p:nvPr/>
        </p:nvSpPr>
        <p:spPr>
          <a:xfrm>
            <a:off x="685800" y="4114800"/>
            <a:ext cx="7772400" cy="594360"/>
          </a:xfrm>
          <a:prstGeom prst="rect">
            <a:avLst/>
          </a:prstGeom>
          <a:noFill/>
          <a:ln/>
        </p:spPr>
        <p:txBody>
          <a:bodyPr wrap="square" lIns="0" tIns="0" rIns="0" bIns="0" rtlCol="0" anchor="ctr"/>
          <a:lstStyle/>
          <a:p>
            <a:pPr marL="0" indent="0" algn="l">
              <a:buNone/>
            </a:pPr>
            <a:r>
              <a:rPr lang="en-US" sz="1400" b="1" dirty="0">
                <a:solidFill>
                  <a:schemeClr val="tx1"/>
                </a:solidFill>
              </a:rPr>
              <a:t>Need: a data-driven model that learns from past listings and gives a consistent estimate in seconds.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rPr>
              <a:t>Objectives</a:t>
            </a:r>
            <a:endParaRPr lang="en-US" sz="3200" dirty="0"/>
          </a:p>
        </p:txBody>
      </p:sp>
      <p:sp>
        <p:nvSpPr>
          <p:cNvPr id="3" name="Objective card 1"/>
          <p:cNvSpPr/>
          <p:nvPr/>
        </p:nvSpPr>
        <p:spPr>
          <a:xfrm>
            <a:off x="457200" y="1188720"/>
            <a:ext cx="4023360" cy="1371600"/>
          </a:xfrm>
          <a:prstGeom prst="roundRect">
            <a:avLst>
              <a:gd name="adj" fmla="val 8000"/>
            </a:avLst>
          </a:prstGeom>
          <a:solidFill>
            <a:schemeClr val="bg2"/>
          </a:solidFill>
          <a:ln w="12700">
            <a:solidFill>
              <a:schemeClr val="bg2"/>
            </a:solidFill>
            <a:prstDash val="solid"/>
          </a:ln>
        </p:spPr>
      </p:sp>
      <p:sp>
        <p:nvSpPr>
          <p:cNvPr id="4" name="Number 1"/>
          <p:cNvSpPr txBox="1"/>
          <p:nvPr/>
        </p:nvSpPr>
        <p:spPr>
          <a:xfrm>
            <a:off x="685800" y="1417320"/>
            <a:ext cx="457200" cy="45720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1</a:t>
            </a:r>
            <a:endParaRPr lang="en-US" sz="1600" dirty="0"/>
          </a:p>
        </p:txBody>
      </p:sp>
      <p:sp>
        <p:nvSpPr>
          <p:cNvPr id="5" name="Text 3"/>
          <p:cNvSpPr txBox="1"/>
          <p:nvPr/>
        </p:nvSpPr>
        <p:spPr>
          <a:xfrm>
            <a:off x="1325880" y="1389888"/>
            <a:ext cx="2926080" cy="1005840"/>
          </a:xfrm>
          <a:prstGeom prst="rect">
            <a:avLst/>
          </a:prstGeom>
          <a:noFill/>
          <a:ln/>
        </p:spPr>
        <p:txBody>
          <a:bodyPr wrap="square" lIns="0" tIns="0" rIns="0" bIns="0" rtlCol="0" anchor="t"/>
          <a:lstStyle/>
          <a:p>
            <a:pPr marL="0" indent="0" algn="l">
              <a:buNone/>
            </a:pPr>
            <a:r>
              <a:rPr lang="en-US" sz="1600" b="1" dirty="0">
                <a:solidFill>
                  <a:schemeClr val="tx1"/>
                </a:solidFill>
              </a:rPr>
              <a:t>Prepare the data</a:t>
            </a:r>
            <a:endParaRPr lang="en-US" sz="1400" dirty="0"/>
          </a:p>
          <a:p>
            <a:pPr marL="0" indent="0" algn="l">
              <a:buNone/>
            </a:pPr>
            <a:r>
              <a:rPr lang="en-US" sz="1400" dirty="0">
                <a:solidFill>
                  <a:schemeClr val="tx1"/>
                </a:solidFill>
              </a:rPr>
              <a:t>Load and clean the dataset: area, location, bedrooms, price</a:t>
            </a:r>
            <a:endParaRPr lang="en-US" sz="1400" dirty="0"/>
          </a:p>
        </p:txBody>
      </p:sp>
      <p:sp>
        <p:nvSpPr>
          <p:cNvPr id="6" name="Objective card 2"/>
          <p:cNvSpPr/>
          <p:nvPr/>
        </p:nvSpPr>
        <p:spPr>
          <a:xfrm>
            <a:off x="4663440" y="1188720"/>
            <a:ext cx="4023360" cy="1371600"/>
          </a:xfrm>
          <a:prstGeom prst="roundRect">
            <a:avLst>
              <a:gd name="adj" fmla="val 8000"/>
            </a:avLst>
          </a:prstGeom>
          <a:solidFill>
            <a:schemeClr val="bg2"/>
          </a:solidFill>
          <a:ln w="12700">
            <a:solidFill>
              <a:schemeClr val="bg2"/>
            </a:solidFill>
            <a:prstDash val="solid"/>
          </a:ln>
        </p:spPr>
      </p:sp>
      <p:sp>
        <p:nvSpPr>
          <p:cNvPr id="7" name="Number 2"/>
          <p:cNvSpPr txBox="1"/>
          <p:nvPr/>
        </p:nvSpPr>
        <p:spPr>
          <a:xfrm>
            <a:off x="4892040" y="1417320"/>
            <a:ext cx="457200" cy="45720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2</a:t>
            </a:r>
            <a:endParaRPr lang="en-US" sz="1600" dirty="0"/>
          </a:p>
        </p:txBody>
      </p:sp>
      <p:sp>
        <p:nvSpPr>
          <p:cNvPr id="8" name="Text 6"/>
          <p:cNvSpPr txBox="1"/>
          <p:nvPr/>
        </p:nvSpPr>
        <p:spPr>
          <a:xfrm>
            <a:off x="5532120" y="1389888"/>
            <a:ext cx="2926080" cy="1005840"/>
          </a:xfrm>
          <a:prstGeom prst="rect">
            <a:avLst/>
          </a:prstGeom>
          <a:noFill/>
          <a:ln/>
        </p:spPr>
        <p:txBody>
          <a:bodyPr wrap="square" lIns="0" tIns="0" rIns="0" bIns="0" rtlCol="0" anchor="t"/>
          <a:lstStyle/>
          <a:p>
            <a:pPr marL="0" indent="0" algn="l">
              <a:buNone/>
            </a:pPr>
            <a:r>
              <a:rPr lang="en-US" sz="1600" b="1" dirty="0">
                <a:solidFill>
                  <a:schemeClr val="tx1"/>
                </a:solidFill>
              </a:rPr>
              <a:t>Build features</a:t>
            </a:r>
            <a:endParaRPr lang="en-US" sz="1400" dirty="0"/>
          </a:p>
          <a:p>
            <a:pPr marL="0" indent="0" algn="l">
              <a:buNone/>
            </a:pPr>
            <a:r>
              <a:rPr lang="en-US" sz="1400" dirty="0">
                <a:solidFill>
                  <a:schemeClr val="tx1"/>
                </a:solidFill>
              </a:rPr>
              <a:t>Turn text and categories into numeric inputs</a:t>
            </a:r>
            <a:endParaRPr lang="en-US" sz="1400" dirty="0"/>
          </a:p>
        </p:txBody>
      </p:sp>
      <p:sp>
        <p:nvSpPr>
          <p:cNvPr id="9" name="Objective card 3"/>
          <p:cNvSpPr/>
          <p:nvPr/>
        </p:nvSpPr>
        <p:spPr>
          <a:xfrm>
            <a:off x="457200" y="2743200"/>
            <a:ext cx="4023360" cy="1371600"/>
          </a:xfrm>
          <a:prstGeom prst="roundRect">
            <a:avLst>
              <a:gd name="adj" fmla="val 8000"/>
            </a:avLst>
          </a:prstGeom>
          <a:solidFill>
            <a:schemeClr val="bg2"/>
          </a:solidFill>
          <a:ln w="12700">
            <a:solidFill>
              <a:schemeClr val="bg2"/>
            </a:solidFill>
            <a:prstDash val="solid"/>
          </a:ln>
        </p:spPr>
      </p:sp>
      <p:sp>
        <p:nvSpPr>
          <p:cNvPr id="10" name="Number 3"/>
          <p:cNvSpPr txBox="1"/>
          <p:nvPr/>
        </p:nvSpPr>
        <p:spPr>
          <a:xfrm>
            <a:off x="685800" y="2971800"/>
            <a:ext cx="457200" cy="45720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3</a:t>
            </a:r>
            <a:endParaRPr lang="en-US" sz="1600" dirty="0"/>
          </a:p>
        </p:txBody>
      </p:sp>
      <p:sp>
        <p:nvSpPr>
          <p:cNvPr id="11" name="Text 9"/>
          <p:cNvSpPr txBox="1"/>
          <p:nvPr/>
        </p:nvSpPr>
        <p:spPr>
          <a:xfrm>
            <a:off x="1325880" y="2944368"/>
            <a:ext cx="2926080" cy="1005840"/>
          </a:xfrm>
          <a:prstGeom prst="rect">
            <a:avLst/>
          </a:prstGeom>
          <a:noFill/>
          <a:ln/>
        </p:spPr>
        <p:txBody>
          <a:bodyPr wrap="square" lIns="0" tIns="0" rIns="0" bIns="0" rtlCol="0" anchor="t"/>
          <a:lstStyle/>
          <a:p>
            <a:pPr marL="0" indent="0" algn="l">
              <a:buNone/>
            </a:pPr>
            <a:r>
              <a:rPr lang="en-US" sz="1600" b="1" dirty="0">
                <a:solidFill>
                  <a:schemeClr val="tx1"/>
                </a:solidFill>
              </a:rPr>
              <a:t>Train and evaluate</a:t>
            </a:r>
            <a:endParaRPr lang="en-US" sz="1400" dirty="0"/>
          </a:p>
          <a:p>
            <a:pPr marL="0" indent="0" algn="l">
              <a:buNone/>
            </a:pPr>
            <a:r>
              <a:rPr lang="en-US" sz="1400" dirty="0">
                <a:solidFill>
                  <a:schemeClr val="tx1"/>
                </a:solidFill>
              </a:rPr>
              <a:t>Random Forest Regressor scored with MAE, MSE, RMSE and R²</a:t>
            </a:r>
            <a:endParaRPr lang="en-US" sz="1400" dirty="0"/>
          </a:p>
        </p:txBody>
      </p:sp>
      <p:sp>
        <p:nvSpPr>
          <p:cNvPr id="12" name="Objective card 4"/>
          <p:cNvSpPr/>
          <p:nvPr/>
        </p:nvSpPr>
        <p:spPr>
          <a:xfrm>
            <a:off x="4663440" y="2743200"/>
            <a:ext cx="4023360" cy="1371600"/>
          </a:xfrm>
          <a:prstGeom prst="roundRect">
            <a:avLst>
              <a:gd name="adj" fmla="val 8000"/>
            </a:avLst>
          </a:prstGeom>
          <a:solidFill>
            <a:schemeClr val="bg2"/>
          </a:solidFill>
          <a:ln w="12700">
            <a:solidFill>
              <a:schemeClr val="bg2"/>
            </a:solidFill>
            <a:prstDash val="solid"/>
          </a:ln>
        </p:spPr>
      </p:sp>
      <p:sp>
        <p:nvSpPr>
          <p:cNvPr id="13" name="Number 4"/>
          <p:cNvSpPr txBox="1"/>
          <p:nvPr/>
        </p:nvSpPr>
        <p:spPr>
          <a:xfrm>
            <a:off x="4892040" y="2971800"/>
            <a:ext cx="457200" cy="45720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4</a:t>
            </a:r>
            <a:endParaRPr lang="en-US" sz="1600" dirty="0"/>
          </a:p>
        </p:txBody>
      </p:sp>
      <p:sp>
        <p:nvSpPr>
          <p:cNvPr id="14" name="Text 12"/>
          <p:cNvSpPr txBox="1"/>
          <p:nvPr/>
        </p:nvSpPr>
        <p:spPr>
          <a:xfrm>
            <a:off x="5532120" y="2944368"/>
            <a:ext cx="2926080" cy="1005840"/>
          </a:xfrm>
          <a:prstGeom prst="rect">
            <a:avLst/>
          </a:prstGeom>
          <a:noFill/>
          <a:ln/>
        </p:spPr>
        <p:txBody>
          <a:bodyPr wrap="square" lIns="0" tIns="0" rIns="0" bIns="0" rtlCol="0" anchor="t"/>
          <a:lstStyle/>
          <a:p>
            <a:pPr marL="0" indent="0" algn="l">
              <a:buNone/>
            </a:pPr>
            <a:r>
              <a:rPr lang="en-US" sz="1600" b="1" dirty="0">
                <a:solidFill>
                  <a:schemeClr val="tx1"/>
                </a:solidFill>
              </a:rPr>
              <a:t>Deploy the model</a:t>
            </a:r>
            <a:endParaRPr lang="en-US" sz="1400" dirty="0"/>
          </a:p>
          <a:p>
            <a:pPr marL="0" indent="0" algn="l">
              <a:buNone/>
            </a:pPr>
            <a:r>
              <a:rPr lang="en-US" sz="1400" dirty="0">
                <a:solidFill>
                  <a:schemeClr val="tx1"/>
                </a:solidFill>
              </a:rPr>
              <a:t>Web app returns the estimated price and price per sq. ft.</a:t>
            </a:r>
            <a:endParaRPr lang="en-US" sz="1400" dirty="0"/>
          </a:p>
        </p:txBody>
      </p:sp>
      <p:sp>
        <p:nvSpPr>
          <p:cNvPr id="15" name="Text 13"/>
          <p:cNvSpPr txBox="1"/>
          <p:nvPr/>
        </p:nvSpPr>
        <p:spPr>
          <a:xfrm>
            <a:off x="457200" y="4297680"/>
            <a:ext cx="8229600" cy="365760"/>
          </a:xfrm>
          <a:prstGeom prst="rect">
            <a:avLst/>
          </a:prstGeom>
          <a:noFill/>
          <a:ln/>
        </p:spPr>
        <p:txBody>
          <a:bodyPr wrap="square" lIns="0" tIns="0" rIns="0" bIns="0" rtlCol="0" anchor="t"/>
          <a:lstStyle/>
          <a:p>
            <a:pPr marL="0" indent="0" algn="l">
              <a:buNone/>
            </a:pPr>
            <a:r>
              <a:rPr lang="en-US" sz="1400" b="1" dirty="0">
                <a:solidFill>
                  <a:schemeClr val="tx2"/>
                </a:solidFill>
              </a:rPr>
              <a:t>Task type: supervised regression. Known property details in, continuous price out.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rPr>
              <a:t>Methodology: ML Pipeline</a:t>
            </a:r>
            <a:endParaRPr lang="en-US" sz="3200" dirty="0"/>
          </a:p>
        </p:txBody>
      </p:sp>
      <p:sp>
        <p:nvSpPr>
          <p:cNvPr id="3" name="Step card 1"/>
          <p:cNvSpPr/>
          <p:nvPr/>
        </p:nvSpPr>
        <p:spPr>
          <a:xfrm>
            <a:off x="457200" y="1188720"/>
            <a:ext cx="2560320" cy="1554480"/>
          </a:xfrm>
          <a:prstGeom prst="roundRect">
            <a:avLst>
              <a:gd name="adj" fmla="val 7059"/>
            </a:avLst>
          </a:prstGeom>
          <a:solidFill>
            <a:schemeClr val="bg2"/>
          </a:solidFill>
          <a:ln w="12700">
            <a:solidFill>
              <a:schemeClr val="bg2"/>
            </a:solidFill>
            <a:prstDash val="solid"/>
          </a:ln>
        </p:spPr>
      </p:sp>
      <p:sp>
        <p:nvSpPr>
          <p:cNvPr id="4" name="Number 1"/>
          <p:cNvSpPr txBox="1"/>
          <p:nvPr/>
        </p:nvSpPr>
        <p:spPr>
          <a:xfrm>
            <a:off x="640080" y="1371600"/>
            <a:ext cx="411480" cy="411480"/>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5" name="Text 3"/>
          <p:cNvSpPr txBox="1"/>
          <p:nvPr/>
        </p:nvSpPr>
        <p:spPr>
          <a:xfrm>
            <a:off x="1188720" y="1371600"/>
            <a:ext cx="1737360" cy="411480"/>
          </a:xfrm>
          <a:prstGeom prst="rect">
            <a:avLst/>
          </a:prstGeom>
          <a:noFill/>
          <a:ln/>
        </p:spPr>
        <p:txBody>
          <a:bodyPr wrap="square" lIns="0" tIns="0" rIns="0" bIns="0" rtlCol="0" anchor="ctr"/>
          <a:lstStyle/>
          <a:p>
            <a:pPr marL="0" indent="0" algn="l">
              <a:buNone/>
            </a:pPr>
            <a:r>
              <a:rPr lang="en-US" sz="1600" b="1" dirty="0">
                <a:solidFill>
                  <a:schemeClr val="tx1"/>
                </a:solidFill>
              </a:rPr>
              <a:t>Load &amp; clean</a:t>
            </a:r>
            <a:endParaRPr lang="en-US" sz="1600" dirty="0"/>
          </a:p>
        </p:txBody>
      </p:sp>
      <p:sp>
        <p:nvSpPr>
          <p:cNvPr id="6" name="Text 4"/>
          <p:cNvSpPr txBox="1"/>
          <p:nvPr/>
        </p:nvSpPr>
        <p:spPr>
          <a:xfrm>
            <a:off x="640080" y="1920240"/>
            <a:ext cx="2194560" cy="731520"/>
          </a:xfrm>
          <a:prstGeom prst="rect">
            <a:avLst/>
          </a:prstGeom>
          <a:noFill/>
          <a:ln/>
        </p:spPr>
        <p:txBody>
          <a:bodyPr wrap="square" lIns="0" tIns="0" rIns="0" bIns="0" rtlCol="0" anchor="t"/>
          <a:lstStyle/>
          <a:p>
            <a:pPr marL="0" indent="0" algn="l">
              <a:buNone/>
            </a:pPr>
            <a:r>
              <a:rPr lang="en-US" sz="1400" dirty="0">
                <a:solidFill>
                  <a:schemeClr val="tx1"/>
                </a:solidFill>
              </a:rPr>
              <a:t>Read price.json, fix types, drop missing or non-positive rows</a:t>
            </a:r>
            <a:endParaRPr lang="en-US" sz="1400" dirty="0"/>
          </a:p>
        </p:txBody>
      </p:sp>
      <p:sp>
        <p:nvSpPr>
          <p:cNvPr id="7" name="Step card 2"/>
          <p:cNvSpPr/>
          <p:nvPr/>
        </p:nvSpPr>
        <p:spPr>
          <a:xfrm>
            <a:off x="3291840" y="1188720"/>
            <a:ext cx="2560320" cy="1554480"/>
          </a:xfrm>
          <a:prstGeom prst="roundRect">
            <a:avLst>
              <a:gd name="adj" fmla="val 7059"/>
            </a:avLst>
          </a:prstGeom>
          <a:solidFill>
            <a:schemeClr val="bg2"/>
          </a:solidFill>
          <a:ln w="12700">
            <a:solidFill>
              <a:schemeClr val="bg2"/>
            </a:solidFill>
            <a:prstDash val="solid"/>
          </a:ln>
        </p:spPr>
      </p:sp>
      <p:sp>
        <p:nvSpPr>
          <p:cNvPr id="8" name="Number 2"/>
          <p:cNvSpPr txBox="1"/>
          <p:nvPr/>
        </p:nvSpPr>
        <p:spPr>
          <a:xfrm>
            <a:off x="3474720" y="1371600"/>
            <a:ext cx="411480" cy="411480"/>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9" name="Text 7"/>
          <p:cNvSpPr txBox="1"/>
          <p:nvPr/>
        </p:nvSpPr>
        <p:spPr>
          <a:xfrm>
            <a:off x="4023360" y="1371600"/>
            <a:ext cx="1737360" cy="411480"/>
          </a:xfrm>
          <a:prstGeom prst="rect">
            <a:avLst/>
          </a:prstGeom>
          <a:noFill/>
          <a:ln/>
        </p:spPr>
        <p:txBody>
          <a:bodyPr wrap="square" lIns="0" tIns="0" rIns="0" bIns="0" rtlCol="0" anchor="ctr"/>
          <a:lstStyle/>
          <a:p>
            <a:pPr marL="0" indent="0" algn="l">
              <a:buNone/>
            </a:pPr>
            <a:r>
              <a:rPr lang="en-US" sz="1600" b="1" dirty="0">
                <a:solidFill>
                  <a:schemeClr val="tx1"/>
                </a:solidFill>
              </a:rPr>
              <a:t>Build features</a:t>
            </a:r>
            <a:endParaRPr lang="en-US" sz="1600" dirty="0"/>
          </a:p>
        </p:txBody>
      </p:sp>
      <p:sp>
        <p:nvSpPr>
          <p:cNvPr id="10" name="Text 8"/>
          <p:cNvSpPr txBox="1"/>
          <p:nvPr/>
        </p:nvSpPr>
        <p:spPr>
          <a:xfrm>
            <a:off x="3474720" y="1920240"/>
            <a:ext cx="2194560" cy="731520"/>
          </a:xfrm>
          <a:prstGeom prst="rect">
            <a:avLst/>
          </a:prstGeom>
          <a:noFill/>
          <a:ln/>
        </p:spPr>
        <p:txBody>
          <a:bodyPr wrap="square" lIns="0" tIns="0" rIns="0" bIns="0" rtlCol="0" anchor="t"/>
          <a:lstStyle/>
          <a:p>
            <a:pPr marL="0" indent="0" algn="l">
              <a:buNone/>
            </a:pPr>
            <a:r>
              <a:rPr lang="en-US" sz="1400" dirty="0">
                <a:solidFill>
                  <a:schemeClr val="tx1"/>
                </a:solidFill>
              </a:rPr>
              <a:t>Bedrooms from text such as “3 BHK”; one-hot encode location</a:t>
            </a:r>
            <a:endParaRPr lang="en-US" sz="1400" dirty="0"/>
          </a:p>
        </p:txBody>
      </p:sp>
      <p:sp>
        <p:nvSpPr>
          <p:cNvPr id="11" name="Step card 3"/>
          <p:cNvSpPr/>
          <p:nvPr/>
        </p:nvSpPr>
        <p:spPr>
          <a:xfrm>
            <a:off x="6126480" y="1188720"/>
            <a:ext cx="2560320" cy="1554480"/>
          </a:xfrm>
          <a:prstGeom prst="roundRect">
            <a:avLst>
              <a:gd name="adj" fmla="val 7059"/>
            </a:avLst>
          </a:prstGeom>
          <a:solidFill>
            <a:schemeClr val="bg2"/>
          </a:solidFill>
          <a:ln w="12700">
            <a:solidFill>
              <a:schemeClr val="bg2"/>
            </a:solidFill>
            <a:prstDash val="solid"/>
          </a:ln>
        </p:spPr>
      </p:sp>
      <p:sp>
        <p:nvSpPr>
          <p:cNvPr id="12" name="Number 3"/>
          <p:cNvSpPr txBox="1"/>
          <p:nvPr/>
        </p:nvSpPr>
        <p:spPr>
          <a:xfrm>
            <a:off x="6309360" y="1371600"/>
            <a:ext cx="411480" cy="411480"/>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3" name="Text 11"/>
          <p:cNvSpPr txBox="1"/>
          <p:nvPr/>
        </p:nvSpPr>
        <p:spPr>
          <a:xfrm>
            <a:off x="6858000" y="1371600"/>
            <a:ext cx="1737360" cy="411480"/>
          </a:xfrm>
          <a:prstGeom prst="rect">
            <a:avLst/>
          </a:prstGeom>
          <a:noFill/>
          <a:ln/>
        </p:spPr>
        <p:txBody>
          <a:bodyPr wrap="square" lIns="0" tIns="0" rIns="0" bIns="0" rtlCol="0" anchor="ctr"/>
          <a:lstStyle/>
          <a:p>
            <a:pPr marL="0" indent="0" algn="l">
              <a:buNone/>
            </a:pPr>
            <a:r>
              <a:rPr lang="en-US" sz="1600" b="1" dirty="0">
                <a:solidFill>
                  <a:schemeClr val="tx1"/>
                </a:solidFill>
              </a:rPr>
              <a:t>Split data</a:t>
            </a:r>
            <a:endParaRPr lang="en-US" sz="1600" dirty="0"/>
          </a:p>
        </p:txBody>
      </p:sp>
      <p:sp>
        <p:nvSpPr>
          <p:cNvPr id="14" name="Text 12"/>
          <p:cNvSpPr txBox="1"/>
          <p:nvPr/>
        </p:nvSpPr>
        <p:spPr>
          <a:xfrm>
            <a:off x="6309360" y="1920240"/>
            <a:ext cx="2194560" cy="731520"/>
          </a:xfrm>
          <a:prstGeom prst="rect">
            <a:avLst/>
          </a:prstGeom>
          <a:noFill/>
          <a:ln/>
        </p:spPr>
        <p:txBody>
          <a:bodyPr wrap="square" lIns="0" tIns="0" rIns="0" bIns="0" rtlCol="0" anchor="t"/>
          <a:lstStyle/>
          <a:p>
            <a:pPr marL="0" indent="0" algn="l">
              <a:buNone/>
            </a:pPr>
            <a:r>
              <a:rPr lang="en-US" sz="1400" dirty="0">
                <a:solidFill>
                  <a:schemeClr val="tx1"/>
                </a:solidFill>
              </a:rPr>
              <a:t>80% training, 20% test (random_state = 42)</a:t>
            </a:r>
            <a:endParaRPr lang="en-US" sz="1400" dirty="0"/>
          </a:p>
        </p:txBody>
      </p:sp>
      <p:sp>
        <p:nvSpPr>
          <p:cNvPr id="15" name="Step card 4"/>
          <p:cNvSpPr/>
          <p:nvPr/>
        </p:nvSpPr>
        <p:spPr>
          <a:xfrm>
            <a:off x="457200" y="2926080"/>
            <a:ext cx="2560320" cy="1554480"/>
          </a:xfrm>
          <a:prstGeom prst="roundRect">
            <a:avLst>
              <a:gd name="adj" fmla="val 7059"/>
            </a:avLst>
          </a:prstGeom>
          <a:solidFill>
            <a:schemeClr val="bg2"/>
          </a:solidFill>
          <a:ln w="12700">
            <a:solidFill>
              <a:schemeClr val="bg2"/>
            </a:solidFill>
            <a:prstDash val="solid"/>
          </a:ln>
        </p:spPr>
      </p:sp>
      <p:sp>
        <p:nvSpPr>
          <p:cNvPr id="16" name="Number 4"/>
          <p:cNvSpPr txBox="1"/>
          <p:nvPr/>
        </p:nvSpPr>
        <p:spPr>
          <a:xfrm>
            <a:off x="640080" y="3108960"/>
            <a:ext cx="411480" cy="411480"/>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7" name="Text 15"/>
          <p:cNvSpPr txBox="1"/>
          <p:nvPr/>
        </p:nvSpPr>
        <p:spPr>
          <a:xfrm>
            <a:off x="1188720" y="3108960"/>
            <a:ext cx="1737360" cy="411480"/>
          </a:xfrm>
          <a:prstGeom prst="rect">
            <a:avLst/>
          </a:prstGeom>
          <a:noFill/>
          <a:ln/>
        </p:spPr>
        <p:txBody>
          <a:bodyPr wrap="square" lIns="0" tIns="0" rIns="0" bIns="0" rtlCol="0" anchor="ctr"/>
          <a:lstStyle/>
          <a:p>
            <a:pPr marL="0" indent="0" algn="l">
              <a:buNone/>
            </a:pPr>
            <a:r>
              <a:rPr lang="en-US" sz="1600" b="1" dirty="0">
                <a:solidFill>
                  <a:schemeClr val="tx1"/>
                </a:solidFill>
              </a:rPr>
              <a:t>Train model</a:t>
            </a:r>
            <a:endParaRPr lang="en-US" sz="1600" dirty="0"/>
          </a:p>
        </p:txBody>
      </p:sp>
      <p:sp>
        <p:nvSpPr>
          <p:cNvPr id="18" name="Text 16"/>
          <p:cNvSpPr txBox="1"/>
          <p:nvPr/>
        </p:nvSpPr>
        <p:spPr>
          <a:xfrm>
            <a:off x="640080" y="3657600"/>
            <a:ext cx="2194560" cy="731520"/>
          </a:xfrm>
          <a:prstGeom prst="rect">
            <a:avLst/>
          </a:prstGeom>
          <a:noFill/>
          <a:ln/>
        </p:spPr>
        <p:txBody>
          <a:bodyPr wrap="square" lIns="0" tIns="0" rIns="0" bIns="0" rtlCol="0" anchor="t"/>
          <a:lstStyle/>
          <a:p>
            <a:pPr marL="0" indent="0" algn="l">
              <a:buNone/>
            </a:pPr>
            <a:r>
              <a:rPr lang="en-US" sz="1400" dirty="0">
                <a:solidFill>
                  <a:schemeClr val="tx1"/>
                </a:solidFill>
              </a:rPr>
              <a:t>Random Forest Regressor with 200 trees</a:t>
            </a:r>
            <a:endParaRPr lang="en-US" sz="1400" dirty="0"/>
          </a:p>
        </p:txBody>
      </p:sp>
      <p:sp>
        <p:nvSpPr>
          <p:cNvPr id="19" name="Step card 5"/>
          <p:cNvSpPr/>
          <p:nvPr/>
        </p:nvSpPr>
        <p:spPr>
          <a:xfrm>
            <a:off x="3291840" y="2926080"/>
            <a:ext cx="2560320" cy="1554480"/>
          </a:xfrm>
          <a:prstGeom prst="roundRect">
            <a:avLst>
              <a:gd name="adj" fmla="val 7059"/>
            </a:avLst>
          </a:prstGeom>
          <a:solidFill>
            <a:schemeClr val="bg2"/>
          </a:solidFill>
          <a:ln w="12700">
            <a:solidFill>
              <a:schemeClr val="bg2"/>
            </a:solidFill>
            <a:prstDash val="solid"/>
          </a:ln>
        </p:spPr>
      </p:sp>
      <p:sp>
        <p:nvSpPr>
          <p:cNvPr id="20" name="Number 5"/>
          <p:cNvSpPr txBox="1"/>
          <p:nvPr/>
        </p:nvSpPr>
        <p:spPr>
          <a:xfrm>
            <a:off x="3474720" y="3108960"/>
            <a:ext cx="411480" cy="411480"/>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21" name="Text 19"/>
          <p:cNvSpPr txBox="1"/>
          <p:nvPr/>
        </p:nvSpPr>
        <p:spPr>
          <a:xfrm>
            <a:off x="4023360" y="3108960"/>
            <a:ext cx="1737360" cy="411480"/>
          </a:xfrm>
          <a:prstGeom prst="rect">
            <a:avLst/>
          </a:prstGeom>
          <a:noFill/>
          <a:ln/>
        </p:spPr>
        <p:txBody>
          <a:bodyPr wrap="square" lIns="0" tIns="0" rIns="0" bIns="0" rtlCol="0" anchor="ctr"/>
          <a:lstStyle/>
          <a:p>
            <a:pPr marL="0" indent="0" algn="l">
              <a:buNone/>
            </a:pPr>
            <a:r>
              <a:rPr lang="en-US" sz="1600" b="1" dirty="0">
                <a:solidFill>
                  <a:schemeClr val="tx1"/>
                </a:solidFill>
              </a:rPr>
              <a:t>Evaluate</a:t>
            </a:r>
            <a:endParaRPr lang="en-US" sz="1600" dirty="0"/>
          </a:p>
        </p:txBody>
      </p:sp>
      <p:sp>
        <p:nvSpPr>
          <p:cNvPr id="22" name="Text 20"/>
          <p:cNvSpPr txBox="1"/>
          <p:nvPr/>
        </p:nvSpPr>
        <p:spPr>
          <a:xfrm>
            <a:off x="3474720" y="3657600"/>
            <a:ext cx="2194560" cy="731520"/>
          </a:xfrm>
          <a:prstGeom prst="rect">
            <a:avLst/>
          </a:prstGeom>
          <a:noFill/>
          <a:ln/>
        </p:spPr>
        <p:txBody>
          <a:bodyPr wrap="square" lIns="0" tIns="0" rIns="0" bIns="0" rtlCol="0" anchor="t"/>
          <a:lstStyle/>
          <a:p>
            <a:pPr marL="0" indent="0" algn="l">
              <a:buNone/>
            </a:pPr>
            <a:r>
              <a:rPr lang="en-US" sz="1400" dirty="0">
                <a:solidFill>
                  <a:schemeClr val="tx1"/>
                </a:solidFill>
              </a:rPr>
              <a:t>MAE, MSE, RMSE and R² on unseen test data</a:t>
            </a:r>
            <a:endParaRPr lang="en-US" sz="1400" dirty="0"/>
          </a:p>
        </p:txBody>
      </p:sp>
      <p:sp>
        <p:nvSpPr>
          <p:cNvPr id="23" name="Step card 6"/>
          <p:cNvSpPr/>
          <p:nvPr/>
        </p:nvSpPr>
        <p:spPr>
          <a:xfrm>
            <a:off x="6126480" y="2926080"/>
            <a:ext cx="2560320" cy="1554480"/>
          </a:xfrm>
          <a:prstGeom prst="roundRect">
            <a:avLst>
              <a:gd name="adj" fmla="val 7059"/>
            </a:avLst>
          </a:prstGeom>
          <a:solidFill>
            <a:schemeClr val="bg2"/>
          </a:solidFill>
          <a:ln w="12700">
            <a:solidFill>
              <a:schemeClr val="bg2"/>
            </a:solidFill>
            <a:prstDash val="solid"/>
          </a:ln>
        </p:spPr>
      </p:sp>
      <p:sp>
        <p:nvSpPr>
          <p:cNvPr id="24" name="Number 6"/>
          <p:cNvSpPr txBox="1"/>
          <p:nvPr/>
        </p:nvSpPr>
        <p:spPr>
          <a:xfrm>
            <a:off x="6309360" y="3108960"/>
            <a:ext cx="411480" cy="411480"/>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600" b="1" dirty="0">
                <a:solidFill>
                  <a:schemeClr val="bg1"/>
                </a:solidFill>
              </a:rPr>
              <a:t>6</a:t>
            </a:r>
            <a:endParaRPr lang="en-US" sz="1600" dirty="0"/>
          </a:p>
        </p:txBody>
      </p:sp>
      <p:sp>
        <p:nvSpPr>
          <p:cNvPr id="25" name="Text 23"/>
          <p:cNvSpPr txBox="1"/>
          <p:nvPr/>
        </p:nvSpPr>
        <p:spPr>
          <a:xfrm>
            <a:off x="6858000" y="3108960"/>
            <a:ext cx="1737360" cy="411480"/>
          </a:xfrm>
          <a:prstGeom prst="rect">
            <a:avLst/>
          </a:prstGeom>
          <a:noFill/>
          <a:ln/>
        </p:spPr>
        <p:txBody>
          <a:bodyPr wrap="square" lIns="0" tIns="0" rIns="0" bIns="0" rtlCol="0" anchor="ctr"/>
          <a:lstStyle/>
          <a:p>
            <a:pPr marL="0" indent="0" algn="l">
              <a:buNone/>
            </a:pPr>
            <a:r>
              <a:rPr lang="en-US" sz="1600" b="1" dirty="0">
                <a:solidFill>
                  <a:schemeClr val="tx1"/>
                </a:solidFill>
              </a:rPr>
              <a:t>Save &amp; deploy</a:t>
            </a:r>
            <a:endParaRPr lang="en-US" sz="1600" dirty="0"/>
          </a:p>
        </p:txBody>
      </p:sp>
      <p:sp>
        <p:nvSpPr>
          <p:cNvPr id="26" name="Text 24"/>
          <p:cNvSpPr txBox="1"/>
          <p:nvPr/>
        </p:nvSpPr>
        <p:spPr>
          <a:xfrm>
            <a:off x="6309360" y="3657600"/>
            <a:ext cx="2194560" cy="731520"/>
          </a:xfrm>
          <a:prstGeom prst="rect">
            <a:avLst/>
          </a:prstGeom>
          <a:noFill/>
          <a:ln/>
        </p:spPr>
        <p:txBody>
          <a:bodyPr wrap="square" lIns="0" tIns="0" rIns="0" bIns="0" rtlCol="0" anchor="t"/>
          <a:lstStyle/>
          <a:p>
            <a:pPr marL="0" indent="0" algn="l">
              <a:buNone/>
            </a:pPr>
            <a:r>
              <a:rPr lang="en-US" sz="1400" dirty="0">
                <a:solidFill>
                  <a:schemeClr val="tx1"/>
                </a:solidFill>
              </a:rPr>
              <a:t>Save with pickle; serve with Streamlit</a:t>
            </a:r>
            <a:endParaRPr lang="en-US" sz="1400" dirty="0"/>
          </a:p>
        </p:txBody>
      </p:sp>
      <p:sp>
        <p:nvSpPr>
          <p:cNvPr id="27"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rPr>
              <a:t>Dataset and Feature Engineering</a:t>
            </a:r>
            <a:endParaRPr lang="en-US" sz="3200" dirty="0"/>
          </a:p>
        </p:txBody>
      </p:sp>
      <p:graphicFrame>
        <p:nvGraphicFramePr>
          <p:cNvPr id="6" name="Feature table"/>
          <p:cNvGraphicFramePr>
            <a:graphicFrameLocks noGrp="1"/>
          </p:cNvGraphicFramePr>
          <p:nvPr>
            <p:extLst>
              <p:ext uri="{D42A27DB-BD31-4B8C-83A1-F6EECF244321}">
                <p14:modId xmlns:p14="http://schemas.microsoft.com/office/powerpoint/2010/main" val="1579011935"/>
              </p:ext>
            </p:extLst>
          </p:nvPr>
        </p:nvGraphicFramePr>
        <p:xfrm>
          <a:off x="457200" y="1188720"/>
          <a:ext cx="4937760" cy="914400"/>
        </p:xfrm>
        <a:graphic>
          <a:graphicData uri="http://schemas.openxmlformats.org/drawingml/2006/table">
            <a:tbl>
              <a:tblPr/>
              <a:tblGrid>
                <a:gridCol w="100584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566928">
                <a:tc>
                  <a:txBody>
                    <a:bodyPr/>
                    <a:lstStyle/>
                    <a:p>
                      <a:pPr marL="0" indent="0">
                        <a:buNone/>
                      </a:pPr>
                      <a:r>
                        <a:rPr lang="en-US" sz="1300" b="1" dirty="0">
                          <a:solidFill>
                            <a:schemeClr val="bg1"/>
                          </a:solidFill>
                        </a:rPr>
                        <a:t>Feature</a:t>
                      </a:r>
                      <a:endParaRPr lang="en-US" sz="1300" dirty="0"/>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Description</a:t>
                      </a:r>
                      <a:endParaRPr lang="en-US" sz="1300" dirty="0"/>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Type</a:t>
                      </a:r>
                      <a:endParaRPr lang="en-US" sz="1300" dirty="0"/>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66928">
                <a:tc>
                  <a:txBody>
                    <a:bodyPr/>
                    <a:lstStyle/>
                    <a:p>
                      <a:pPr marL="0" indent="0">
                        <a:buNone/>
                      </a:pPr>
                      <a:r>
                        <a:rPr lang="en-US" sz="1300" b="1" dirty="0">
                          <a:solidFill>
                            <a:schemeClr val="tx1"/>
                          </a:solidFill>
                        </a:rPr>
                        <a:t>area</a:t>
                      </a:r>
                      <a:endParaRPr lang="en-US" sz="1300" dirty="0"/>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Total area in sq. ft.</a:t>
                      </a:r>
                      <a:endParaRPr lang="en-US" sz="1300" dirty="0"/>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Numeric input</a:t>
                      </a:r>
                      <a:endParaRPr lang="en-US" sz="1300" dirty="0"/>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66928">
                <a:tc>
                  <a:txBody>
                    <a:bodyPr/>
                    <a:lstStyle/>
                    <a:p>
                      <a:pPr marL="0" indent="0">
                        <a:buNone/>
                      </a:pPr>
                      <a:r>
                        <a:rPr lang="en-US" sz="1300" b="1" dirty="0">
                          <a:solidFill>
                            <a:schemeClr val="tx1"/>
                          </a:solidFill>
                        </a:rPr>
                        <a:t>bedrooms</a:t>
                      </a:r>
                      <a:endParaRPr lang="en-US" sz="1300" dirty="0"/>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Count taken from text like “3 BHK”</a:t>
                      </a:r>
                      <a:endParaRPr lang="en-US" sz="1300" dirty="0"/>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Numeric input</a:t>
                      </a:r>
                      <a:endParaRPr lang="en-US" sz="1300" dirty="0"/>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66928">
                <a:tc>
                  <a:txBody>
                    <a:bodyPr/>
                    <a:lstStyle/>
                    <a:p>
                      <a:pPr marL="0" indent="0">
                        <a:buNone/>
                      </a:pPr>
                      <a:r>
                        <a:rPr lang="en-US" sz="1300" b="1" dirty="0">
                          <a:solidFill>
                            <a:schemeClr val="tx1"/>
                          </a:solidFill>
                        </a:rPr>
                        <a:t>location</a:t>
                      </a:r>
                      <a:endParaRPr lang="en-US" sz="1300" dirty="0"/>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Locality in Hyderabad</a:t>
                      </a:r>
                      <a:endParaRPr lang="en-US" sz="1300" dirty="0"/>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Categorical, one-hot</a:t>
                      </a:r>
                      <a:endParaRPr lang="en-US" sz="1300" dirty="0"/>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66928">
                <a:tc>
                  <a:txBody>
                    <a:bodyPr/>
                    <a:lstStyle/>
                    <a:p>
                      <a:pPr marL="0" indent="0">
                        <a:buNone/>
                      </a:pPr>
                      <a:r>
                        <a:rPr lang="en-US" sz="1300" b="1" dirty="0">
                          <a:solidFill>
                            <a:schemeClr val="tx1"/>
                          </a:solidFill>
                        </a:rPr>
                        <a:t>price</a:t>
                      </a:r>
                      <a:endParaRPr lang="en-US" sz="1300" dirty="0"/>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Property price (in lakhs)</a:t>
                      </a:r>
                      <a:endParaRPr lang="en-US" sz="1300" dirty="0"/>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Target</a:t>
                      </a:r>
                      <a:endParaRPr lang="en-US" sz="1300" dirty="0"/>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4" name="Text 1"/>
          <p:cNvSpPr txBox="1"/>
          <p:nvPr/>
        </p:nvSpPr>
        <p:spPr>
          <a:xfrm>
            <a:off x="457200" y="4160520"/>
            <a:ext cx="4937760" cy="365760"/>
          </a:xfrm>
          <a:prstGeom prst="rect">
            <a:avLst/>
          </a:prstGeom>
          <a:noFill/>
          <a:ln/>
        </p:spPr>
        <p:txBody>
          <a:bodyPr wrap="square" lIns="0" tIns="0" rIns="0" bIns="0" rtlCol="0" anchor="t"/>
          <a:lstStyle/>
          <a:p>
            <a:pPr marL="0" indent="0" algn="l">
              <a:buNone/>
            </a:pPr>
            <a:r>
              <a:rPr lang="en-US" sz="1400" b="1" dirty="0">
                <a:solidFill>
                  <a:schemeClr val="tx2"/>
                </a:solidFill>
              </a:rPr>
              <a:t>Dataset: price.json, loaded with pandas.</a:t>
            </a:r>
            <a:endParaRPr lang="en-US" sz="1400" dirty="0"/>
          </a:p>
        </p:txBody>
      </p:sp>
      <p:sp>
        <p:nvSpPr>
          <p:cNvPr id="5" name="Steps card"/>
          <p:cNvSpPr/>
          <p:nvPr/>
        </p:nvSpPr>
        <p:spPr>
          <a:xfrm>
            <a:off x="5669280" y="1188720"/>
            <a:ext cx="3017520" cy="3337560"/>
          </a:xfrm>
          <a:prstGeom prst="roundRect">
            <a:avLst>
              <a:gd name="adj" fmla="val 3636"/>
            </a:avLst>
          </a:prstGeom>
          <a:solidFill>
            <a:schemeClr val="bg2"/>
          </a:solidFill>
          <a:ln w="12700">
            <a:solidFill>
              <a:schemeClr val="bg2"/>
            </a:solidFill>
            <a:prstDash val="solid"/>
          </a:ln>
        </p:spPr>
      </p:sp>
      <p:sp>
        <p:nvSpPr>
          <p:cNvPr id="3" name="Text 3"/>
          <p:cNvSpPr txBox="1"/>
          <p:nvPr/>
        </p:nvSpPr>
        <p:spPr>
          <a:xfrm>
            <a:off x="5897880" y="1325880"/>
            <a:ext cx="2560320" cy="320040"/>
          </a:xfrm>
          <a:prstGeom prst="rect">
            <a:avLst/>
          </a:prstGeom>
          <a:noFill/>
          <a:ln/>
        </p:spPr>
        <p:txBody>
          <a:bodyPr wrap="square" lIns="0" tIns="0" rIns="0" bIns="0" rtlCol="0" anchor="t"/>
          <a:lstStyle/>
          <a:p>
            <a:pPr marL="0" indent="0" algn="l">
              <a:buNone/>
            </a:pPr>
            <a:r>
              <a:rPr lang="en-US" sz="1600" b="1" dirty="0">
                <a:solidFill>
                  <a:schemeClr val="tx2"/>
                </a:solidFill>
              </a:rPr>
              <a:t>Preparation steps</a:t>
            </a:r>
            <a:endParaRPr lang="en-US" sz="1600" dirty="0"/>
          </a:p>
        </p:txBody>
      </p:sp>
      <p:sp>
        <p:nvSpPr>
          <p:cNvPr id="7" name="Text 4"/>
          <p:cNvSpPr txBox="1"/>
          <p:nvPr/>
        </p:nvSpPr>
        <p:spPr>
          <a:xfrm>
            <a:off x="5897880" y="1737360"/>
            <a:ext cx="2651760" cy="2651760"/>
          </a:xfrm>
          <a:prstGeom prst="rect">
            <a:avLst/>
          </a:prstGeom>
          <a:noFill/>
          <a:ln/>
        </p:spPr>
        <p:txBody>
          <a:bodyPr wrap="square" lIns="0" tIns="0" rIns="0" bIns="0" rtlCol="0" anchor="t"/>
          <a:lstStyle/>
          <a:p>
            <a:pPr marL="342900" indent="-342900" algn="l">
              <a:spcAft>
                <a:spcPts val="600"/>
              </a:spcAft>
              <a:buSzPct val="100000"/>
              <a:buChar char="•"/>
            </a:pPr>
            <a:r>
              <a:rPr lang="en-US" sz="1400" dirty="0">
                <a:solidFill>
                  <a:schemeClr val="tx1"/>
                </a:solidFill>
              </a:rPr>
              <a:t>Lowercase and strip column names</a:t>
            </a:r>
            <a:endParaRPr lang="en-US" sz="1400" dirty="0"/>
          </a:p>
          <a:p>
            <a:pPr marL="342900" indent="-342900" algn="l">
              <a:spcAft>
                <a:spcPts val="600"/>
              </a:spcAft>
              <a:buSzPct val="100000"/>
              <a:buChar char="•"/>
            </a:pPr>
            <a:r>
              <a:rPr lang="en-US" sz="1400" dirty="0">
                <a:solidFill>
                  <a:schemeClr val="tx1"/>
                </a:solidFill>
              </a:rPr>
              <a:t>Extract bedroom digits with a regex</a:t>
            </a:r>
            <a:endParaRPr lang="en-US" sz="1400" dirty="0"/>
          </a:p>
          <a:p>
            <a:pPr marL="342900" indent="-342900" algn="l">
              <a:spcAft>
                <a:spcPts val="600"/>
              </a:spcAft>
              <a:buSzPct val="100000"/>
              <a:buChar char="•"/>
            </a:pPr>
            <a:r>
              <a:rPr lang="en-US" sz="1400" dirty="0">
                <a:solidFill>
                  <a:schemeClr val="tx1"/>
                </a:solidFill>
              </a:rPr>
              <a:t>Drop missing and zero or negative rows</a:t>
            </a:r>
            <a:endParaRPr lang="en-US" sz="1400" dirty="0"/>
          </a:p>
          <a:p>
            <a:pPr marL="342900" indent="-342900" algn="l">
              <a:spcAft>
                <a:spcPts val="600"/>
              </a:spcAft>
              <a:buSzPct val="100000"/>
              <a:buChar char="•"/>
            </a:pPr>
            <a:r>
              <a:rPr lang="en-US" sz="1400" dirty="0">
                <a:solidFill>
                  <a:schemeClr val="tx1"/>
                </a:solidFill>
              </a:rPr>
              <a:t>One-hot encode location (Location_ columns)</a:t>
            </a:r>
            <a:endParaRPr lang="en-US" sz="1400" dirty="0"/>
          </a:p>
          <a:p>
            <a:pPr marL="342900" indent="-342900" algn="l">
              <a:spcAft>
                <a:spcPts val="600"/>
              </a:spcAft>
              <a:buSzPct val="100000"/>
              <a:buChar char="•"/>
            </a:pPr>
            <a:r>
              <a:rPr lang="en-US" sz="1400" dirty="0">
                <a:solidFill>
                  <a:schemeClr val="tx1"/>
                </a:solidFill>
              </a:rPr>
              <a:t>Split 80:20 into train and test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rPr>
              <a:t>Random Forest Algorithm</a:t>
            </a:r>
            <a:endParaRPr lang="en-US" sz="3200" dirty="0"/>
          </a:p>
        </p:txBody>
      </p:sp>
      <p:sp>
        <p:nvSpPr>
          <p:cNvPr id="3" name="Tree 1"/>
          <p:cNvSpPr txBox="1"/>
          <p:nvPr/>
        </p:nvSpPr>
        <p:spPr>
          <a:xfrm>
            <a:off x="457200" y="1371600"/>
            <a:ext cx="1097280" cy="502920"/>
          </a:xfrm>
          <a:prstGeom prst="roundRect">
            <a:avLst>
              <a:gd name="adj" fmla="val 18182"/>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bg1"/>
                </a:solidFill>
              </a:rPr>
              <a:t>Tree 1</a:t>
            </a:r>
            <a:endParaRPr lang="en-US" sz="1400" dirty="0"/>
          </a:p>
        </p:txBody>
      </p:sp>
      <p:sp>
        <p:nvSpPr>
          <p:cNvPr id="4" name="Connector"/>
          <p:cNvSpPr/>
          <p:nvPr/>
        </p:nvSpPr>
        <p:spPr>
          <a:xfrm>
            <a:off x="1554480" y="1623060"/>
            <a:ext cx="731520" cy="1211580"/>
          </a:xfrm>
          <a:prstGeom prst="line">
            <a:avLst/>
          </a:prstGeom>
          <a:noFill/>
          <a:ln w="19050">
            <a:solidFill>
              <a:schemeClr val="accent5"/>
            </a:solidFill>
            <a:prstDash val="solid"/>
            <a:tailEnd type="triangle"/>
          </a:ln>
        </p:spPr>
      </p:sp>
      <p:sp>
        <p:nvSpPr>
          <p:cNvPr id="5" name="Tree 2"/>
          <p:cNvSpPr txBox="1"/>
          <p:nvPr/>
        </p:nvSpPr>
        <p:spPr>
          <a:xfrm>
            <a:off x="457200" y="2057400"/>
            <a:ext cx="1097280" cy="502920"/>
          </a:xfrm>
          <a:prstGeom prst="roundRect">
            <a:avLst>
              <a:gd name="adj" fmla="val 18182"/>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bg1"/>
                </a:solidFill>
              </a:rPr>
              <a:t>Tree 2</a:t>
            </a:r>
            <a:endParaRPr lang="en-US" sz="1400" dirty="0"/>
          </a:p>
        </p:txBody>
      </p:sp>
      <p:sp>
        <p:nvSpPr>
          <p:cNvPr id="6" name="Connector"/>
          <p:cNvSpPr/>
          <p:nvPr/>
        </p:nvSpPr>
        <p:spPr>
          <a:xfrm>
            <a:off x="1554480" y="2308860"/>
            <a:ext cx="731520" cy="525780"/>
          </a:xfrm>
          <a:prstGeom prst="line">
            <a:avLst/>
          </a:prstGeom>
          <a:noFill/>
          <a:ln w="19050">
            <a:solidFill>
              <a:schemeClr val="accent5"/>
            </a:solidFill>
            <a:prstDash val="solid"/>
            <a:tailEnd type="triangle"/>
          </a:ln>
        </p:spPr>
      </p:sp>
      <p:sp>
        <p:nvSpPr>
          <p:cNvPr id="7" name="Tree 3"/>
          <p:cNvSpPr txBox="1"/>
          <p:nvPr/>
        </p:nvSpPr>
        <p:spPr>
          <a:xfrm>
            <a:off x="457200" y="2743200"/>
            <a:ext cx="1097280" cy="502920"/>
          </a:xfrm>
          <a:prstGeom prst="roundRect">
            <a:avLst>
              <a:gd name="adj" fmla="val 18182"/>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bg1"/>
                </a:solidFill>
              </a:rPr>
              <a:t>Tree 3</a:t>
            </a:r>
            <a:endParaRPr lang="en-US" sz="1400" dirty="0"/>
          </a:p>
        </p:txBody>
      </p:sp>
      <p:sp>
        <p:nvSpPr>
          <p:cNvPr id="8" name="Connector"/>
          <p:cNvSpPr/>
          <p:nvPr/>
        </p:nvSpPr>
        <p:spPr>
          <a:xfrm flipV="1">
            <a:off x="1554480" y="2834640"/>
            <a:ext cx="731520" cy="160020"/>
          </a:xfrm>
          <a:prstGeom prst="line">
            <a:avLst/>
          </a:prstGeom>
          <a:noFill/>
          <a:ln w="19050">
            <a:solidFill>
              <a:schemeClr val="accent5"/>
            </a:solidFill>
            <a:prstDash val="solid"/>
            <a:tailEnd type="triangle"/>
          </a:ln>
        </p:spPr>
      </p:sp>
      <p:sp>
        <p:nvSpPr>
          <p:cNvPr id="9" name="Tree 200"/>
          <p:cNvSpPr txBox="1"/>
          <p:nvPr/>
        </p:nvSpPr>
        <p:spPr>
          <a:xfrm>
            <a:off x="457200" y="3749040"/>
            <a:ext cx="1097280" cy="502920"/>
          </a:xfrm>
          <a:prstGeom prst="roundRect">
            <a:avLst>
              <a:gd name="adj" fmla="val 18182"/>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bg1"/>
                </a:solidFill>
              </a:rPr>
              <a:t>Tree 200</a:t>
            </a:r>
            <a:endParaRPr lang="en-US" sz="1400" dirty="0"/>
          </a:p>
        </p:txBody>
      </p:sp>
      <p:sp>
        <p:nvSpPr>
          <p:cNvPr id="10" name="Connector"/>
          <p:cNvSpPr/>
          <p:nvPr/>
        </p:nvSpPr>
        <p:spPr>
          <a:xfrm flipV="1">
            <a:off x="1554480" y="2834640"/>
            <a:ext cx="731520" cy="1165860"/>
          </a:xfrm>
          <a:prstGeom prst="line">
            <a:avLst/>
          </a:prstGeom>
          <a:noFill/>
          <a:ln w="19050">
            <a:solidFill>
              <a:schemeClr val="accent5"/>
            </a:solidFill>
            <a:prstDash val="solid"/>
            <a:tailEnd type="triangle"/>
          </a:ln>
        </p:spPr>
      </p:sp>
      <p:sp>
        <p:nvSpPr>
          <p:cNvPr id="11" name="Text 9"/>
          <p:cNvSpPr txBox="1"/>
          <p:nvPr/>
        </p:nvSpPr>
        <p:spPr>
          <a:xfrm>
            <a:off x="457200" y="3310128"/>
            <a:ext cx="1097280" cy="365760"/>
          </a:xfrm>
          <a:prstGeom prst="rect">
            <a:avLst/>
          </a:prstGeom>
          <a:noFill/>
          <a:ln/>
        </p:spPr>
        <p:txBody>
          <a:bodyPr wrap="square" lIns="0" tIns="0" rIns="0" bIns="0" rtlCol="0" anchor="ctr"/>
          <a:lstStyle/>
          <a:p>
            <a:pPr marL="0" indent="0" algn="ctr">
              <a:buNone/>
            </a:pPr>
            <a:r>
              <a:rPr lang="en-US" sz="2000" b="1" dirty="0">
                <a:solidFill>
                  <a:schemeClr val="accent5"/>
                </a:solidFill>
              </a:rPr>
              <a:t>⋮</a:t>
            </a:r>
            <a:endParaRPr lang="en-US" sz="2000" dirty="0"/>
          </a:p>
        </p:txBody>
      </p:sp>
      <p:sp>
        <p:nvSpPr>
          <p:cNvPr id="12" name="Average node"/>
          <p:cNvSpPr txBox="1"/>
          <p:nvPr/>
        </p:nvSpPr>
        <p:spPr>
          <a:xfrm>
            <a:off x="2286000" y="2377440"/>
            <a:ext cx="914400" cy="91440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400" b="1" dirty="0">
                <a:solidFill>
                  <a:schemeClr val="tx1"/>
                </a:solidFill>
              </a:rPr>
              <a:t>Average</a:t>
            </a:r>
            <a:endParaRPr lang="en-US" sz="1400" dirty="0"/>
          </a:p>
        </p:txBody>
      </p:sp>
      <p:sp>
        <p:nvSpPr>
          <p:cNvPr id="13" name="Connector"/>
          <p:cNvSpPr/>
          <p:nvPr/>
        </p:nvSpPr>
        <p:spPr>
          <a:xfrm>
            <a:off x="3200400" y="2834640"/>
            <a:ext cx="457200" cy="0"/>
          </a:xfrm>
          <a:prstGeom prst="line">
            <a:avLst/>
          </a:prstGeom>
          <a:noFill/>
          <a:ln w="19050">
            <a:solidFill>
              <a:schemeClr val="accent5"/>
            </a:solidFill>
            <a:prstDash val="solid"/>
            <a:tailEnd type="triangle"/>
          </a:ln>
        </p:spPr>
      </p:sp>
      <p:sp>
        <p:nvSpPr>
          <p:cNvPr id="14" name="Output node"/>
          <p:cNvSpPr txBox="1"/>
          <p:nvPr/>
        </p:nvSpPr>
        <p:spPr>
          <a:xfrm>
            <a:off x="3657600" y="2468880"/>
            <a:ext cx="1234440" cy="731520"/>
          </a:xfrm>
          <a:prstGeom prst="roundRect">
            <a:avLst>
              <a:gd name="adj" fmla="val 12500"/>
            </a:avLst>
          </a:prstGeom>
          <a:solidFill>
            <a:schemeClr val="tx2"/>
          </a:solidFill>
          <a:ln>
            <a:solidFill>
              <a:schemeClr val="tx2"/>
            </a:solidFill>
          </a:ln>
        </p:spPr>
        <p:txBody>
          <a:bodyPr wrap="square" lIns="635" tIns="635" rIns="635" bIns="635" rtlCol="0" anchor="ctr"/>
          <a:lstStyle/>
          <a:p>
            <a:pPr marL="0" indent="0" algn="ctr">
              <a:buNone/>
            </a:pPr>
            <a:r>
              <a:rPr lang="en-US" sz="1400" b="1" dirty="0">
                <a:solidFill>
                  <a:schemeClr val="bg1"/>
                </a:solidFill>
              </a:rPr>
              <a:t>Predicted price</a:t>
            </a:r>
            <a:endParaRPr lang="en-US" sz="1400" dirty="0"/>
          </a:p>
        </p:txBody>
      </p:sp>
      <p:sp>
        <p:nvSpPr>
          <p:cNvPr id="15" name="Text 13"/>
          <p:cNvSpPr txBox="1"/>
          <p:nvPr/>
        </p:nvSpPr>
        <p:spPr>
          <a:xfrm>
            <a:off x="5212080" y="1188720"/>
            <a:ext cx="3474720" cy="365760"/>
          </a:xfrm>
          <a:prstGeom prst="rect">
            <a:avLst/>
          </a:prstGeom>
          <a:noFill/>
          <a:ln/>
        </p:spPr>
        <p:txBody>
          <a:bodyPr wrap="square" lIns="0" tIns="0" rIns="0" bIns="0" rtlCol="0" anchor="t"/>
          <a:lstStyle/>
          <a:p>
            <a:pPr marL="0" indent="0" algn="l">
              <a:buNone/>
            </a:pPr>
            <a:r>
              <a:rPr lang="en-US" sz="1800" b="1" dirty="0">
                <a:solidFill>
                  <a:schemeClr val="tx2"/>
                </a:solidFill>
              </a:rPr>
              <a:t>Why Random Forest?</a:t>
            </a:r>
            <a:endParaRPr lang="en-US" sz="1800" dirty="0"/>
          </a:p>
        </p:txBody>
      </p:sp>
      <p:sp>
        <p:nvSpPr>
          <p:cNvPr id="16" name="Text 14"/>
          <p:cNvSpPr txBox="1"/>
          <p:nvPr/>
        </p:nvSpPr>
        <p:spPr>
          <a:xfrm>
            <a:off x="5212080" y="1645920"/>
            <a:ext cx="3474720" cy="2103120"/>
          </a:xfrm>
          <a:prstGeom prst="rect">
            <a:avLst/>
          </a:prstGeom>
          <a:noFill/>
          <a:ln/>
        </p:spPr>
        <p:txBody>
          <a:bodyPr wrap="square" lIns="0" tIns="0" rIns="0" bIns="0" rtlCol="0" anchor="t"/>
          <a:lstStyle/>
          <a:p>
            <a:pPr marL="342900" indent="-342900" algn="l">
              <a:spcAft>
                <a:spcPts val="500"/>
              </a:spcAft>
              <a:buSzPct val="100000"/>
              <a:buChar char="•"/>
            </a:pPr>
            <a:r>
              <a:rPr lang="en-US" sz="1400" dirty="0">
                <a:solidFill>
                  <a:schemeClr val="tx1"/>
                </a:solidFill>
              </a:rPr>
              <a:t>Ensemble of many decision trees</a:t>
            </a:r>
            <a:endParaRPr lang="en-US" sz="1400" dirty="0"/>
          </a:p>
          <a:p>
            <a:pPr marL="342900" indent="-342900" algn="l">
              <a:spcAft>
                <a:spcPts val="500"/>
              </a:spcAft>
              <a:buSzPct val="100000"/>
              <a:buChar char="•"/>
            </a:pPr>
            <a:r>
              <a:rPr lang="en-US" sz="1400" dirty="0">
                <a:solidFill>
                  <a:schemeClr val="tx1"/>
                </a:solidFill>
              </a:rPr>
              <a:t>Each tree trains on a random bootstrap sample (bagging)</a:t>
            </a:r>
            <a:endParaRPr lang="en-US" sz="1400" dirty="0"/>
          </a:p>
          <a:p>
            <a:pPr marL="342900" indent="-342900" algn="l">
              <a:spcAft>
                <a:spcPts val="500"/>
              </a:spcAft>
              <a:buSzPct val="100000"/>
              <a:buChar char="•"/>
            </a:pPr>
            <a:r>
              <a:rPr lang="en-US" sz="1400" dirty="0">
                <a:solidFill>
                  <a:schemeClr val="tx1"/>
                </a:solidFill>
              </a:rPr>
              <a:t>Final price is the average of all tree predictions</a:t>
            </a:r>
            <a:endParaRPr lang="en-US" sz="1400" dirty="0"/>
          </a:p>
          <a:p>
            <a:pPr marL="342900" indent="-342900" algn="l">
              <a:spcAft>
                <a:spcPts val="500"/>
              </a:spcAft>
              <a:buSzPct val="100000"/>
              <a:buChar char="•"/>
            </a:pPr>
            <a:r>
              <a:rPr lang="en-US" sz="1400" dirty="0">
                <a:solidFill>
                  <a:schemeClr val="tx1"/>
                </a:solidFill>
              </a:rPr>
              <a:t>Reduces variance and overfitting</a:t>
            </a:r>
            <a:endParaRPr lang="en-US" sz="1400" dirty="0"/>
          </a:p>
          <a:p>
            <a:pPr marL="342900" indent="-342900" algn="l">
              <a:spcAft>
                <a:spcPts val="500"/>
              </a:spcAft>
              <a:buSzPct val="100000"/>
              <a:buChar char="•"/>
            </a:pPr>
            <a:r>
              <a:rPr lang="en-US" sz="1400" dirty="0">
                <a:solidFill>
                  <a:schemeClr val="tx1"/>
                </a:solidFill>
              </a:rPr>
              <a:t>Handles non-linear patterns; no feature scaling</a:t>
            </a:r>
            <a:endParaRPr lang="en-US" sz="1400" dirty="0"/>
          </a:p>
        </p:txBody>
      </p:sp>
      <p:sp>
        <p:nvSpPr>
          <p:cNvPr id="17" name="Config chip"/>
          <p:cNvSpPr/>
          <p:nvPr/>
        </p:nvSpPr>
        <p:spPr>
          <a:xfrm>
            <a:off x="5212080" y="3840480"/>
            <a:ext cx="3474720" cy="640080"/>
          </a:xfrm>
          <a:prstGeom prst="roundRect">
            <a:avLst>
              <a:gd name="adj" fmla="val 17143"/>
            </a:avLst>
          </a:prstGeom>
          <a:solidFill>
            <a:schemeClr val="bg2"/>
          </a:solidFill>
          <a:ln w="12700">
            <a:solidFill>
              <a:schemeClr val="bg2"/>
            </a:solidFill>
            <a:prstDash val="solid"/>
          </a:ln>
        </p:spPr>
      </p:sp>
      <p:sp>
        <p:nvSpPr>
          <p:cNvPr id="18" name="Text 16"/>
          <p:cNvSpPr txBox="1"/>
          <p:nvPr/>
        </p:nvSpPr>
        <p:spPr>
          <a:xfrm>
            <a:off x="5349240" y="3840480"/>
            <a:ext cx="3200400" cy="640080"/>
          </a:xfrm>
          <a:prstGeom prst="rect">
            <a:avLst/>
          </a:prstGeom>
          <a:noFill/>
          <a:ln/>
        </p:spPr>
        <p:txBody>
          <a:bodyPr wrap="square" lIns="0" tIns="0" rIns="0" bIns="0" rtlCol="0" anchor="ctr"/>
          <a:lstStyle/>
          <a:p>
            <a:pPr marL="0" indent="0" algn="l">
              <a:buNone/>
            </a:pPr>
            <a:r>
              <a:rPr lang="en-US" sz="1400" b="1" dirty="0">
                <a:solidFill>
                  <a:schemeClr val="tx2"/>
                </a:solidFill>
              </a:rPr>
              <a:t>n_estimators = 200 · random_state = 42 · n_jobs = −1</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rPr>
              <a:t>Evaluation Metrics</a:t>
            </a:r>
            <a:endParaRPr lang="en-US" sz="3200" dirty="0"/>
          </a:p>
        </p:txBody>
      </p:sp>
      <p:sp>
        <p:nvSpPr>
          <p:cNvPr id="3" name="Metric card MAE"/>
          <p:cNvSpPr/>
          <p:nvPr/>
        </p:nvSpPr>
        <p:spPr>
          <a:xfrm>
            <a:off x="457200" y="1188720"/>
            <a:ext cx="1920240" cy="2743200"/>
          </a:xfrm>
          <a:prstGeom prst="roundRect">
            <a:avLst>
              <a:gd name="adj" fmla="val 5714"/>
            </a:avLst>
          </a:prstGeom>
          <a:solidFill>
            <a:schemeClr val="bg2"/>
          </a:solidFill>
          <a:ln w="12700">
            <a:solidFill>
              <a:schemeClr val="bg2"/>
            </a:solidFill>
            <a:prstDash val="solid"/>
          </a:ln>
        </p:spPr>
      </p:sp>
      <p:sp>
        <p:nvSpPr>
          <p:cNvPr id="4" name="Text 2"/>
          <p:cNvSpPr txBox="1"/>
          <p:nvPr/>
        </p:nvSpPr>
        <p:spPr>
          <a:xfrm>
            <a:off x="594360" y="1371600"/>
            <a:ext cx="1645920" cy="548640"/>
          </a:xfrm>
          <a:prstGeom prst="rect">
            <a:avLst/>
          </a:prstGeom>
          <a:noFill/>
          <a:ln/>
        </p:spPr>
        <p:txBody>
          <a:bodyPr wrap="square" lIns="0" tIns="0" rIns="0" bIns="0" rtlCol="0" anchor="t"/>
          <a:lstStyle/>
          <a:p>
            <a:pPr marL="0" indent="0" algn="l">
              <a:buNone/>
            </a:pPr>
            <a:r>
              <a:rPr lang="en-US" sz="3000" b="1" dirty="0">
                <a:solidFill>
                  <a:schemeClr val="accent2"/>
                </a:solidFill>
              </a:rPr>
              <a:t>MAE</a:t>
            </a:r>
            <a:endParaRPr lang="en-US" sz="3000" dirty="0"/>
          </a:p>
        </p:txBody>
      </p:sp>
      <p:sp>
        <p:nvSpPr>
          <p:cNvPr id="5" name="Formula box MAE"/>
          <p:cNvSpPr/>
          <p:nvPr/>
        </p:nvSpPr>
        <p:spPr>
          <a:xfrm>
            <a:off x="594360" y="2057400"/>
            <a:ext cx="1645920" cy="640080"/>
          </a:xfrm>
          <a:prstGeom prst="roundRect">
            <a:avLst>
              <a:gd name="adj" fmla="val 17143"/>
            </a:avLst>
          </a:prstGeom>
          <a:solidFill>
            <a:schemeClr val="bg1"/>
          </a:solidFill>
          <a:ln w="12700">
            <a:solidFill>
              <a:schemeClr val="bg1"/>
            </a:solidFill>
            <a:prstDash val="solid"/>
          </a:ln>
        </p:spPr>
      </p:sp>
      <p:sp>
        <p:nvSpPr>
          <p:cNvPr id="6" name="Text 4"/>
          <p:cNvSpPr txBox="1"/>
          <p:nvPr/>
        </p:nvSpPr>
        <p:spPr>
          <a:xfrm>
            <a:off x="640080" y="2057400"/>
            <a:ext cx="1554480" cy="640080"/>
          </a:xfrm>
          <a:prstGeom prst="rect">
            <a:avLst/>
          </a:prstGeom>
          <a:noFill/>
          <a:ln/>
        </p:spPr>
        <p:txBody>
          <a:bodyPr wrap="square" lIns="0" tIns="0" rIns="0" bIns="0" rtlCol="0" anchor="ctr"/>
          <a:lstStyle/>
          <a:p>
            <a:pPr marL="0" indent="0" algn="ctr">
              <a:buNone/>
            </a:pPr>
            <a:r>
              <a:rPr lang="en-US" sz="1400" i="1" dirty="0">
                <a:solidFill>
                  <a:schemeClr val="tx1"/>
                </a:solidFill>
              </a:rPr>
              <a:t>(1/n) Σ |y − ŷ|</a:t>
            </a:r>
            <a:endParaRPr lang="en-US" sz="1400" dirty="0"/>
          </a:p>
        </p:txBody>
      </p:sp>
      <p:sp>
        <p:nvSpPr>
          <p:cNvPr id="7" name="Text 5"/>
          <p:cNvSpPr txBox="1"/>
          <p:nvPr/>
        </p:nvSpPr>
        <p:spPr>
          <a:xfrm>
            <a:off x="594360" y="2880360"/>
            <a:ext cx="1645920" cy="914400"/>
          </a:xfrm>
          <a:prstGeom prst="rect">
            <a:avLst/>
          </a:prstGeom>
          <a:noFill/>
          <a:ln/>
        </p:spPr>
        <p:txBody>
          <a:bodyPr wrap="square" lIns="0" tIns="0" rIns="0" bIns="0" rtlCol="0" anchor="t"/>
          <a:lstStyle/>
          <a:p>
            <a:pPr marL="0" indent="0" algn="l">
              <a:buNone/>
            </a:pPr>
            <a:r>
              <a:rPr lang="en-US" sz="1400" dirty="0">
                <a:solidFill>
                  <a:schemeClr val="tx1"/>
                </a:solidFill>
              </a:rPr>
              <a:t>Average absolute error in price</a:t>
            </a:r>
            <a:endParaRPr lang="en-US" sz="1400" dirty="0"/>
          </a:p>
        </p:txBody>
      </p:sp>
      <p:sp>
        <p:nvSpPr>
          <p:cNvPr id="8" name="Metric card MSE"/>
          <p:cNvSpPr/>
          <p:nvPr/>
        </p:nvSpPr>
        <p:spPr>
          <a:xfrm>
            <a:off x="2560320" y="1188720"/>
            <a:ext cx="1920240" cy="2743200"/>
          </a:xfrm>
          <a:prstGeom prst="roundRect">
            <a:avLst>
              <a:gd name="adj" fmla="val 5714"/>
            </a:avLst>
          </a:prstGeom>
          <a:solidFill>
            <a:schemeClr val="bg2"/>
          </a:solidFill>
          <a:ln w="12700">
            <a:solidFill>
              <a:schemeClr val="bg2"/>
            </a:solidFill>
            <a:prstDash val="solid"/>
          </a:ln>
        </p:spPr>
      </p:sp>
      <p:sp>
        <p:nvSpPr>
          <p:cNvPr id="9" name="Text 7"/>
          <p:cNvSpPr txBox="1"/>
          <p:nvPr/>
        </p:nvSpPr>
        <p:spPr>
          <a:xfrm>
            <a:off x="2697480" y="1371600"/>
            <a:ext cx="1645920" cy="548640"/>
          </a:xfrm>
          <a:prstGeom prst="rect">
            <a:avLst/>
          </a:prstGeom>
          <a:noFill/>
          <a:ln/>
        </p:spPr>
        <p:txBody>
          <a:bodyPr wrap="square" lIns="0" tIns="0" rIns="0" bIns="0" rtlCol="0" anchor="t"/>
          <a:lstStyle/>
          <a:p>
            <a:pPr marL="0" indent="0" algn="l">
              <a:buNone/>
            </a:pPr>
            <a:r>
              <a:rPr lang="en-US" sz="3000" b="1" dirty="0">
                <a:solidFill>
                  <a:schemeClr val="accent2"/>
                </a:solidFill>
              </a:rPr>
              <a:t>MSE</a:t>
            </a:r>
            <a:endParaRPr lang="en-US" sz="3000" dirty="0"/>
          </a:p>
        </p:txBody>
      </p:sp>
      <p:sp>
        <p:nvSpPr>
          <p:cNvPr id="10" name="Formula box MSE"/>
          <p:cNvSpPr/>
          <p:nvPr/>
        </p:nvSpPr>
        <p:spPr>
          <a:xfrm>
            <a:off x="2697480" y="2057400"/>
            <a:ext cx="1645920" cy="640080"/>
          </a:xfrm>
          <a:prstGeom prst="roundRect">
            <a:avLst>
              <a:gd name="adj" fmla="val 17143"/>
            </a:avLst>
          </a:prstGeom>
          <a:solidFill>
            <a:schemeClr val="bg1"/>
          </a:solidFill>
          <a:ln w="12700">
            <a:solidFill>
              <a:schemeClr val="bg1"/>
            </a:solidFill>
            <a:prstDash val="solid"/>
          </a:ln>
        </p:spPr>
      </p:sp>
      <p:sp>
        <p:nvSpPr>
          <p:cNvPr id="11" name="Text 9"/>
          <p:cNvSpPr txBox="1"/>
          <p:nvPr/>
        </p:nvSpPr>
        <p:spPr>
          <a:xfrm>
            <a:off x="2743200" y="2057400"/>
            <a:ext cx="1554480" cy="640080"/>
          </a:xfrm>
          <a:prstGeom prst="rect">
            <a:avLst/>
          </a:prstGeom>
          <a:noFill/>
          <a:ln/>
        </p:spPr>
        <p:txBody>
          <a:bodyPr wrap="square" lIns="0" tIns="0" rIns="0" bIns="0" rtlCol="0" anchor="ctr"/>
          <a:lstStyle/>
          <a:p>
            <a:pPr marL="0" indent="0" algn="ctr">
              <a:buNone/>
            </a:pPr>
            <a:r>
              <a:rPr lang="en-US" sz="1400" i="1" dirty="0">
                <a:solidFill>
                  <a:schemeClr val="tx1"/>
                </a:solidFill>
              </a:rPr>
              <a:t>(1/n) Σ (y − ŷ)²</a:t>
            </a:r>
            <a:endParaRPr lang="en-US" sz="1400" dirty="0"/>
          </a:p>
        </p:txBody>
      </p:sp>
      <p:sp>
        <p:nvSpPr>
          <p:cNvPr id="12" name="Text 10"/>
          <p:cNvSpPr txBox="1"/>
          <p:nvPr/>
        </p:nvSpPr>
        <p:spPr>
          <a:xfrm>
            <a:off x="2697480" y="2880360"/>
            <a:ext cx="1645920" cy="914400"/>
          </a:xfrm>
          <a:prstGeom prst="rect">
            <a:avLst/>
          </a:prstGeom>
          <a:noFill/>
          <a:ln/>
        </p:spPr>
        <p:txBody>
          <a:bodyPr wrap="square" lIns="0" tIns="0" rIns="0" bIns="0" rtlCol="0" anchor="t"/>
          <a:lstStyle/>
          <a:p>
            <a:pPr marL="0" indent="0" algn="l">
              <a:buNone/>
            </a:pPr>
            <a:r>
              <a:rPr lang="en-US" sz="1400" dirty="0">
                <a:solidFill>
                  <a:schemeClr val="tx1"/>
                </a:solidFill>
              </a:rPr>
              <a:t>Average squared error; large errors count more</a:t>
            </a:r>
            <a:endParaRPr lang="en-US" sz="1400" dirty="0"/>
          </a:p>
        </p:txBody>
      </p:sp>
      <p:sp>
        <p:nvSpPr>
          <p:cNvPr id="13" name="Metric card RMSE"/>
          <p:cNvSpPr/>
          <p:nvPr/>
        </p:nvSpPr>
        <p:spPr>
          <a:xfrm>
            <a:off x="4663440" y="1188720"/>
            <a:ext cx="1920240" cy="2743200"/>
          </a:xfrm>
          <a:prstGeom prst="roundRect">
            <a:avLst>
              <a:gd name="adj" fmla="val 5714"/>
            </a:avLst>
          </a:prstGeom>
          <a:solidFill>
            <a:schemeClr val="bg2"/>
          </a:solidFill>
          <a:ln w="12700">
            <a:solidFill>
              <a:schemeClr val="bg2"/>
            </a:solidFill>
            <a:prstDash val="solid"/>
          </a:ln>
        </p:spPr>
      </p:sp>
      <p:sp>
        <p:nvSpPr>
          <p:cNvPr id="14" name="Text 12"/>
          <p:cNvSpPr txBox="1"/>
          <p:nvPr/>
        </p:nvSpPr>
        <p:spPr>
          <a:xfrm>
            <a:off x="4800600" y="1371600"/>
            <a:ext cx="1645920" cy="548640"/>
          </a:xfrm>
          <a:prstGeom prst="rect">
            <a:avLst/>
          </a:prstGeom>
          <a:noFill/>
          <a:ln/>
        </p:spPr>
        <p:txBody>
          <a:bodyPr wrap="square" lIns="0" tIns="0" rIns="0" bIns="0" rtlCol="0" anchor="t"/>
          <a:lstStyle/>
          <a:p>
            <a:pPr marL="0" indent="0" algn="l">
              <a:buNone/>
            </a:pPr>
            <a:r>
              <a:rPr lang="en-US" sz="3000" b="1" dirty="0">
                <a:solidFill>
                  <a:schemeClr val="accent2"/>
                </a:solidFill>
              </a:rPr>
              <a:t>RMSE</a:t>
            </a:r>
            <a:endParaRPr lang="en-US" sz="3000" dirty="0"/>
          </a:p>
        </p:txBody>
      </p:sp>
      <p:sp>
        <p:nvSpPr>
          <p:cNvPr id="15" name="Formula box RMSE"/>
          <p:cNvSpPr/>
          <p:nvPr/>
        </p:nvSpPr>
        <p:spPr>
          <a:xfrm>
            <a:off x="4800600" y="2057400"/>
            <a:ext cx="1645920" cy="640080"/>
          </a:xfrm>
          <a:prstGeom prst="roundRect">
            <a:avLst>
              <a:gd name="adj" fmla="val 17143"/>
            </a:avLst>
          </a:prstGeom>
          <a:solidFill>
            <a:schemeClr val="bg1"/>
          </a:solidFill>
          <a:ln w="12700">
            <a:solidFill>
              <a:schemeClr val="bg1"/>
            </a:solidFill>
            <a:prstDash val="solid"/>
          </a:ln>
        </p:spPr>
      </p:sp>
      <p:sp>
        <p:nvSpPr>
          <p:cNvPr id="16" name="Text 14"/>
          <p:cNvSpPr txBox="1"/>
          <p:nvPr/>
        </p:nvSpPr>
        <p:spPr>
          <a:xfrm>
            <a:off x="4846320" y="2057400"/>
            <a:ext cx="1554480" cy="640080"/>
          </a:xfrm>
          <a:prstGeom prst="rect">
            <a:avLst/>
          </a:prstGeom>
          <a:noFill/>
          <a:ln/>
        </p:spPr>
        <p:txBody>
          <a:bodyPr wrap="square" lIns="0" tIns="0" rIns="0" bIns="0" rtlCol="0" anchor="ctr"/>
          <a:lstStyle/>
          <a:p>
            <a:pPr marL="0" indent="0" algn="ctr">
              <a:buNone/>
            </a:pPr>
            <a:r>
              <a:rPr lang="en-US" sz="1400" i="1" dirty="0">
                <a:solidFill>
                  <a:schemeClr val="tx1"/>
                </a:solidFill>
              </a:rPr>
              <a:t>√MSE</a:t>
            </a:r>
            <a:endParaRPr lang="en-US" sz="1400" dirty="0"/>
          </a:p>
        </p:txBody>
      </p:sp>
      <p:sp>
        <p:nvSpPr>
          <p:cNvPr id="17" name="Text 15"/>
          <p:cNvSpPr txBox="1"/>
          <p:nvPr/>
        </p:nvSpPr>
        <p:spPr>
          <a:xfrm>
            <a:off x="4800600" y="2880360"/>
            <a:ext cx="1645920" cy="914400"/>
          </a:xfrm>
          <a:prstGeom prst="rect">
            <a:avLst/>
          </a:prstGeom>
          <a:noFill/>
          <a:ln/>
        </p:spPr>
        <p:txBody>
          <a:bodyPr wrap="square" lIns="0" tIns="0" rIns="0" bIns="0" rtlCol="0" anchor="t"/>
          <a:lstStyle/>
          <a:p>
            <a:pPr marL="0" indent="0" algn="l">
              <a:buNone/>
            </a:pPr>
            <a:r>
              <a:rPr lang="en-US" sz="1400" dirty="0">
                <a:solidFill>
                  <a:schemeClr val="tx1"/>
                </a:solidFill>
              </a:rPr>
              <a:t>Error in the same unit as the price</a:t>
            </a:r>
            <a:endParaRPr lang="en-US" sz="1400" dirty="0"/>
          </a:p>
        </p:txBody>
      </p:sp>
      <p:sp>
        <p:nvSpPr>
          <p:cNvPr id="18" name="Metric card R²"/>
          <p:cNvSpPr/>
          <p:nvPr/>
        </p:nvSpPr>
        <p:spPr>
          <a:xfrm>
            <a:off x="6766560" y="1188720"/>
            <a:ext cx="1920240" cy="2743200"/>
          </a:xfrm>
          <a:prstGeom prst="roundRect">
            <a:avLst>
              <a:gd name="adj" fmla="val 5714"/>
            </a:avLst>
          </a:prstGeom>
          <a:solidFill>
            <a:schemeClr val="bg2"/>
          </a:solidFill>
          <a:ln w="12700">
            <a:solidFill>
              <a:schemeClr val="bg2"/>
            </a:solidFill>
            <a:prstDash val="solid"/>
          </a:ln>
        </p:spPr>
      </p:sp>
      <p:sp>
        <p:nvSpPr>
          <p:cNvPr id="19" name="Text 17"/>
          <p:cNvSpPr txBox="1"/>
          <p:nvPr/>
        </p:nvSpPr>
        <p:spPr>
          <a:xfrm>
            <a:off x="6903720" y="1371600"/>
            <a:ext cx="1645920" cy="548640"/>
          </a:xfrm>
          <a:prstGeom prst="rect">
            <a:avLst/>
          </a:prstGeom>
          <a:noFill/>
          <a:ln/>
        </p:spPr>
        <p:txBody>
          <a:bodyPr wrap="square" lIns="0" tIns="0" rIns="0" bIns="0" rtlCol="0" anchor="t"/>
          <a:lstStyle/>
          <a:p>
            <a:pPr marL="0" indent="0" algn="l">
              <a:buNone/>
            </a:pPr>
            <a:r>
              <a:rPr lang="en-US" sz="3000" b="1" dirty="0">
                <a:solidFill>
                  <a:schemeClr val="accent2"/>
                </a:solidFill>
              </a:rPr>
              <a:t>R²</a:t>
            </a:r>
            <a:endParaRPr lang="en-US" sz="3000" dirty="0"/>
          </a:p>
        </p:txBody>
      </p:sp>
      <p:sp>
        <p:nvSpPr>
          <p:cNvPr id="20" name="Formula box R²"/>
          <p:cNvSpPr/>
          <p:nvPr/>
        </p:nvSpPr>
        <p:spPr>
          <a:xfrm>
            <a:off x="6903720" y="2057400"/>
            <a:ext cx="1645920" cy="640080"/>
          </a:xfrm>
          <a:prstGeom prst="roundRect">
            <a:avLst>
              <a:gd name="adj" fmla="val 17143"/>
            </a:avLst>
          </a:prstGeom>
          <a:solidFill>
            <a:schemeClr val="bg1"/>
          </a:solidFill>
          <a:ln w="12700">
            <a:solidFill>
              <a:schemeClr val="bg1"/>
            </a:solidFill>
            <a:prstDash val="solid"/>
          </a:ln>
        </p:spPr>
      </p:sp>
      <p:sp>
        <p:nvSpPr>
          <p:cNvPr id="21" name="Text 19"/>
          <p:cNvSpPr txBox="1"/>
          <p:nvPr/>
        </p:nvSpPr>
        <p:spPr>
          <a:xfrm>
            <a:off x="6949440" y="2057400"/>
            <a:ext cx="1554480" cy="640080"/>
          </a:xfrm>
          <a:prstGeom prst="rect">
            <a:avLst/>
          </a:prstGeom>
          <a:noFill/>
          <a:ln/>
        </p:spPr>
        <p:txBody>
          <a:bodyPr wrap="square" lIns="0" tIns="0" rIns="0" bIns="0" rtlCol="0" anchor="ctr"/>
          <a:lstStyle/>
          <a:p>
            <a:pPr marL="0" indent="0" algn="ctr">
              <a:buNone/>
            </a:pPr>
            <a:r>
              <a:rPr lang="en-US" sz="1400" i="1" dirty="0">
                <a:solidFill>
                  <a:schemeClr val="tx1"/>
                </a:solidFill>
              </a:rPr>
              <a:t>1 − Σ(y−ŷ)² / Σ(y−ȳ)²</a:t>
            </a:r>
            <a:endParaRPr lang="en-US" sz="1400" dirty="0"/>
          </a:p>
        </p:txBody>
      </p:sp>
      <p:sp>
        <p:nvSpPr>
          <p:cNvPr id="22" name="Text 20"/>
          <p:cNvSpPr txBox="1"/>
          <p:nvPr/>
        </p:nvSpPr>
        <p:spPr>
          <a:xfrm>
            <a:off x="6903720" y="2880360"/>
            <a:ext cx="1645920" cy="914400"/>
          </a:xfrm>
          <a:prstGeom prst="rect">
            <a:avLst/>
          </a:prstGeom>
          <a:noFill/>
          <a:ln/>
        </p:spPr>
        <p:txBody>
          <a:bodyPr wrap="square" lIns="0" tIns="0" rIns="0" bIns="0" rtlCol="0" anchor="t"/>
          <a:lstStyle/>
          <a:p>
            <a:pPr marL="0" indent="0" algn="l">
              <a:buNone/>
            </a:pPr>
            <a:r>
              <a:rPr lang="en-US" sz="1400" dirty="0">
                <a:solidFill>
                  <a:schemeClr val="tx1"/>
                </a:solidFill>
              </a:rPr>
              <a:t>Share of price variation the model explains</a:t>
            </a:r>
            <a:endParaRPr lang="en-US" sz="1400" dirty="0"/>
          </a:p>
        </p:txBody>
      </p:sp>
      <p:sp>
        <p:nvSpPr>
          <p:cNvPr id="23" name="Reading banner"/>
          <p:cNvSpPr/>
          <p:nvPr/>
        </p:nvSpPr>
        <p:spPr>
          <a:xfrm>
            <a:off x="457200" y="4114800"/>
            <a:ext cx="8229600" cy="594360"/>
          </a:xfrm>
          <a:prstGeom prst="roundRect">
            <a:avLst>
              <a:gd name="adj" fmla="val 18462"/>
            </a:avLst>
          </a:prstGeom>
          <a:solidFill>
            <a:schemeClr val="tx2"/>
          </a:solidFill>
          <a:ln w="12700">
            <a:solidFill>
              <a:schemeClr val="tx2"/>
            </a:solidFill>
            <a:prstDash val="solid"/>
          </a:ln>
        </p:spPr>
      </p:sp>
      <p:sp>
        <p:nvSpPr>
          <p:cNvPr id="24" name="Text 22"/>
          <p:cNvSpPr txBox="1"/>
          <p:nvPr/>
        </p:nvSpPr>
        <p:spPr>
          <a:xfrm>
            <a:off x="685800" y="4114800"/>
            <a:ext cx="7772400" cy="594360"/>
          </a:xfrm>
          <a:prstGeom prst="rect">
            <a:avLst/>
          </a:prstGeom>
          <a:noFill/>
          <a:ln/>
        </p:spPr>
        <p:txBody>
          <a:bodyPr wrap="square" lIns="0" tIns="0" rIns="0" bIns="0" rtlCol="0" anchor="ctr"/>
          <a:lstStyle/>
          <a:p>
            <a:pPr marL="0" indent="0" algn="l">
              <a:buNone/>
            </a:pPr>
            <a:r>
              <a:rPr lang="en-US" sz="1400" b="1" dirty="0">
                <a:solidFill>
                  <a:schemeClr val="bg1"/>
                </a:solidFill>
              </a:rPr>
              <a:t>Lower MAE, MSE and RMSE and an R² close to 1 mean a better model, measured on the 20% test set.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rPr>
              <a:t>Web Application and Setup</a:t>
            </a:r>
            <a:endParaRPr lang="en-US" sz="3200" dirty="0"/>
          </a:p>
        </p:txBody>
      </p:sp>
      <p:sp>
        <p:nvSpPr>
          <p:cNvPr id="3" name="App mockup"/>
          <p:cNvSpPr/>
          <p:nvPr/>
        </p:nvSpPr>
        <p:spPr>
          <a:xfrm>
            <a:off x="457200" y="1188720"/>
            <a:ext cx="3566160" cy="3017520"/>
          </a:xfrm>
          <a:prstGeom prst="roundRect">
            <a:avLst>
              <a:gd name="adj" fmla="val 3636"/>
            </a:avLst>
          </a:prstGeom>
          <a:solidFill>
            <a:schemeClr val="bg2"/>
          </a:solidFill>
          <a:ln w="12700">
            <a:solidFill>
              <a:schemeClr val="bg2"/>
            </a:solidFill>
            <a:prstDash val="solid"/>
          </a:ln>
        </p:spPr>
      </p:sp>
      <p:sp>
        <p:nvSpPr>
          <p:cNvPr id="4" name="Text 2"/>
          <p:cNvSpPr txBox="1"/>
          <p:nvPr/>
        </p:nvSpPr>
        <p:spPr>
          <a:xfrm>
            <a:off x="685800" y="1325880"/>
            <a:ext cx="3108960" cy="274320"/>
          </a:xfrm>
          <a:prstGeom prst="rect">
            <a:avLst/>
          </a:prstGeom>
          <a:noFill/>
          <a:ln/>
        </p:spPr>
        <p:txBody>
          <a:bodyPr wrap="square" lIns="0" tIns="0" rIns="0" bIns="0" rtlCol="0" anchor="t"/>
          <a:lstStyle/>
          <a:p>
            <a:pPr marL="0" indent="0" algn="l">
              <a:buNone/>
            </a:pPr>
            <a:r>
              <a:rPr lang="en-US" sz="1600" b="1" dirty="0">
                <a:solidFill>
                  <a:schemeClr val="tx2"/>
                </a:solidFill>
              </a:rPr>
              <a:t>House Price Predictor</a:t>
            </a:r>
            <a:endParaRPr lang="en-US" sz="1600" dirty="0"/>
          </a:p>
        </p:txBody>
      </p:sp>
      <p:sp>
        <p:nvSpPr>
          <p:cNvPr id="5" name="Text 3"/>
          <p:cNvSpPr txBox="1"/>
          <p:nvPr/>
        </p:nvSpPr>
        <p:spPr>
          <a:xfrm>
            <a:off x="685800" y="1737360"/>
            <a:ext cx="3108960" cy="182880"/>
          </a:xfrm>
          <a:prstGeom prst="rect">
            <a:avLst/>
          </a:prstGeom>
          <a:noFill/>
          <a:ln/>
        </p:spPr>
        <p:txBody>
          <a:bodyPr wrap="square" lIns="0" tIns="0" rIns="0" bIns="0" rtlCol="0" anchor="t"/>
          <a:lstStyle/>
          <a:p>
            <a:pPr marL="0" indent="0" algn="l">
              <a:buNone/>
            </a:pPr>
            <a:r>
              <a:rPr lang="en-US" sz="1200" dirty="0">
                <a:solidFill>
                  <a:schemeClr val="tx1"/>
                </a:solidFill>
              </a:rPr>
              <a:t>Location</a:t>
            </a:r>
            <a:endParaRPr lang="en-US" sz="1200" dirty="0"/>
          </a:p>
        </p:txBody>
      </p:sp>
      <p:sp>
        <p:nvSpPr>
          <p:cNvPr id="6" name="Input field Location"/>
          <p:cNvSpPr/>
          <p:nvPr/>
        </p:nvSpPr>
        <p:spPr>
          <a:xfrm>
            <a:off x="685800" y="1920240"/>
            <a:ext cx="3108960" cy="365760"/>
          </a:xfrm>
          <a:prstGeom prst="roundRect">
            <a:avLst>
              <a:gd name="adj" fmla="val 30000"/>
            </a:avLst>
          </a:prstGeom>
          <a:solidFill>
            <a:schemeClr val="bg1"/>
          </a:solidFill>
          <a:ln w="12700">
            <a:solidFill>
              <a:schemeClr val="bg1"/>
            </a:solidFill>
            <a:prstDash val="solid"/>
          </a:ln>
        </p:spPr>
      </p:sp>
      <p:sp>
        <p:nvSpPr>
          <p:cNvPr id="7" name="Text 5"/>
          <p:cNvSpPr txBox="1"/>
          <p:nvPr/>
        </p:nvSpPr>
        <p:spPr>
          <a:xfrm>
            <a:off x="822960" y="1920240"/>
            <a:ext cx="2834640" cy="365760"/>
          </a:xfrm>
          <a:prstGeom prst="rect">
            <a:avLst/>
          </a:prstGeom>
          <a:noFill/>
          <a:ln/>
        </p:spPr>
        <p:txBody>
          <a:bodyPr wrap="square" lIns="0" tIns="0" rIns="0" bIns="0" rtlCol="0" anchor="ctr"/>
          <a:lstStyle/>
          <a:p>
            <a:pPr marL="0" indent="0" algn="l">
              <a:buNone/>
            </a:pPr>
            <a:r>
              <a:rPr lang="en-US" sz="1400" dirty="0">
                <a:solidFill>
                  <a:schemeClr val="tx1"/>
                </a:solidFill>
              </a:rPr>
              <a:t>Kokapet  ▾</a:t>
            </a:r>
            <a:endParaRPr lang="en-US" sz="1400" dirty="0"/>
          </a:p>
        </p:txBody>
      </p:sp>
      <p:sp>
        <p:nvSpPr>
          <p:cNvPr id="8" name="Text 6"/>
          <p:cNvSpPr txBox="1"/>
          <p:nvPr/>
        </p:nvSpPr>
        <p:spPr>
          <a:xfrm>
            <a:off x="685800" y="2377440"/>
            <a:ext cx="3108960" cy="182880"/>
          </a:xfrm>
          <a:prstGeom prst="rect">
            <a:avLst/>
          </a:prstGeom>
          <a:noFill/>
          <a:ln/>
        </p:spPr>
        <p:txBody>
          <a:bodyPr wrap="square" lIns="0" tIns="0" rIns="0" bIns="0" rtlCol="0" anchor="t"/>
          <a:lstStyle/>
          <a:p>
            <a:pPr marL="0" indent="0" algn="l">
              <a:buNone/>
            </a:pPr>
            <a:r>
              <a:rPr lang="en-US" sz="1200" dirty="0">
                <a:solidFill>
                  <a:schemeClr val="tx1"/>
                </a:solidFill>
              </a:rPr>
              <a:t>Area (sq. ft.)</a:t>
            </a:r>
            <a:endParaRPr lang="en-US" sz="1200" dirty="0"/>
          </a:p>
        </p:txBody>
      </p:sp>
      <p:sp>
        <p:nvSpPr>
          <p:cNvPr id="9" name="Input field Area (sq. ft.)"/>
          <p:cNvSpPr/>
          <p:nvPr/>
        </p:nvSpPr>
        <p:spPr>
          <a:xfrm>
            <a:off x="685800" y="2560320"/>
            <a:ext cx="3108960" cy="365760"/>
          </a:xfrm>
          <a:prstGeom prst="roundRect">
            <a:avLst>
              <a:gd name="adj" fmla="val 30000"/>
            </a:avLst>
          </a:prstGeom>
          <a:solidFill>
            <a:schemeClr val="bg1"/>
          </a:solidFill>
          <a:ln w="12700">
            <a:solidFill>
              <a:schemeClr val="bg1"/>
            </a:solidFill>
            <a:prstDash val="solid"/>
          </a:ln>
        </p:spPr>
      </p:sp>
      <p:sp>
        <p:nvSpPr>
          <p:cNvPr id="10" name="Text 8"/>
          <p:cNvSpPr txBox="1"/>
          <p:nvPr/>
        </p:nvSpPr>
        <p:spPr>
          <a:xfrm>
            <a:off x="822960" y="2560320"/>
            <a:ext cx="2834640" cy="365760"/>
          </a:xfrm>
          <a:prstGeom prst="rect">
            <a:avLst/>
          </a:prstGeom>
          <a:noFill/>
          <a:ln/>
        </p:spPr>
        <p:txBody>
          <a:bodyPr wrap="square" lIns="0" tIns="0" rIns="0" bIns="0" rtlCol="0" anchor="ctr"/>
          <a:lstStyle/>
          <a:p>
            <a:pPr marL="0" indent="0" algn="l">
              <a:buNone/>
            </a:pPr>
            <a:r>
              <a:rPr lang="en-US" sz="1400" dirty="0">
                <a:solidFill>
                  <a:schemeClr val="tx1"/>
                </a:solidFill>
              </a:rPr>
              <a:t>1500</a:t>
            </a:r>
            <a:endParaRPr lang="en-US" sz="1400" dirty="0"/>
          </a:p>
        </p:txBody>
      </p:sp>
      <p:sp>
        <p:nvSpPr>
          <p:cNvPr id="11" name="Text 9"/>
          <p:cNvSpPr txBox="1"/>
          <p:nvPr/>
        </p:nvSpPr>
        <p:spPr>
          <a:xfrm>
            <a:off x="685800" y="3017520"/>
            <a:ext cx="3108960" cy="182880"/>
          </a:xfrm>
          <a:prstGeom prst="rect">
            <a:avLst/>
          </a:prstGeom>
          <a:noFill/>
          <a:ln/>
        </p:spPr>
        <p:txBody>
          <a:bodyPr wrap="square" lIns="0" tIns="0" rIns="0" bIns="0" rtlCol="0" anchor="t"/>
          <a:lstStyle/>
          <a:p>
            <a:pPr marL="0" indent="0" algn="l">
              <a:buNone/>
            </a:pPr>
            <a:r>
              <a:rPr lang="en-US" sz="1200" dirty="0">
                <a:solidFill>
                  <a:schemeClr val="tx1"/>
                </a:solidFill>
              </a:rPr>
              <a:t>Bedrooms</a:t>
            </a:r>
            <a:endParaRPr lang="en-US" sz="1200" dirty="0"/>
          </a:p>
        </p:txBody>
      </p:sp>
      <p:sp>
        <p:nvSpPr>
          <p:cNvPr id="12" name="Input field Bedrooms"/>
          <p:cNvSpPr/>
          <p:nvPr/>
        </p:nvSpPr>
        <p:spPr>
          <a:xfrm>
            <a:off x="685800" y="3200400"/>
            <a:ext cx="3108960" cy="365760"/>
          </a:xfrm>
          <a:prstGeom prst="roundRect">
            <a:avLst>
              <a:gd name="adj" fmla="val 30000"/>
            </a:avLst>
          </a:prstGeom>
          <a:solidFill>
            <a:schemeClr val="bg1"/>
          </a:solidFill>
          <a:ln w="12700">
            <a:solidFill>
              <a:schemeClr val="bg1"/>
            </a:solidFill>
            <a:prstDash val="solid"/>
          </a:ln>
        </p:spPr>
      </p:sp>
      <p:sp>
        <p:nvSpPr>
          <p:cNvPr id="13" name="Text 11"/>
          <p:cNvSpPr txBox="1"/>
          <p:nvPr/>
        </p:nvSpPr>
        <p:spPr>
          <a:xfrm>
            <a:off x="822960" y="3200400"/>
            <a:ext cx="2834640" cy="365760"/>
          </a:xfrm>
          <a:prstGeom prst="rect">
            <a:avLst/>
          </a:prstGeom>
          <a:noFill/>
          <a:ln/>
        </p:spPr>
        <p:txBody>
          <a:bodyPr wrap="square" lIns="0" tIns="0" rIns="0" bIns="0" rtlCol="0" anchor="ctr"/>
          <a:lstStyle/>
          <a:p>
            <a:pPr marL="0" indent="0" algn="l">
              <a:buNone/>
            </a:pPr>
            <a:r>
              <a:rPr lang="en-US" sz="1400" dirty="0">
                <a:solidFill>
                  <a:schemeClr val="tx1"/>
                </a:solidFill>
              </a:rPr>
              <a:t>3</a:t>
            </a:r>
            <a:endParaRPr lang="en-US" sz="1400" dirty="0"/>
          </a:p>
        </p:txBody>
      </p:sp>
      <p:sp>
        <p:nvSpPr>
          <p:cNvPr id="14" name="Predict button"/>
          <p:cNvSpPr txBox="1"/>
          <p:nvPr/>
        </p:nvSpPr>
        <p:spPr>
          <a:xfrm>
            <a:off x="685800" y="3657600"/>
            <a:ext cx="3108960" cy="384048"/>
          </a:xfrm>
          <a:prstGeom prst="roundRect">
            <a:avLst>
              <a:gd name="adj" fmla="val 23810"/>
            </a:avLst>
          </a:prstGeom>
          <a:solidFill>
            <a:schemeClr val="accent1"/>
          </a:solidFill>
          <a:ln>
            <a:solidFill>
              <a:schemeClr val="accent1"/>
            </a:solidFill>
          </a:ln>
        </p:spPr>
        <p:txBody>
          <a:bodyPr wrap="square" lIns="0" tIns="0" rIns="0" bIns="0" rtlCol="0" anchor="ctr"/>
          <a:lstStyle/>
          <a:p>
            <a:pPr marL="0" indent="0" algn="ctr">
              <a:buNone/>
            </a:pPr>
            <a:r>
              <a:rPr lang="en-US" sz="1400" b="1" dirty="0">
                <a:solidFill>
                  <a:schemeClr val="tx1"/>
                </a:solidFill>
              </a:rPr>
              <a:t>Predict price</a:t>
            </a:r>
            <a:endParaRPr lang="en-US" sz="1400" dirty="0"/>
          </a:p>
        </p:txBody>
      </p:sp>
      <p:sp>
        <p:nvSpPr>
          <p:cNvPr id="15" name="Number 1"/>
          <p:cNvSpPr txBox="1"/>
          <p:nvPr/>
        </p:nvSpPr>
        <p:spPr>
          <a:xfrm>
            <a:off x="4389120" y="1280160"/>
            <a:ext cx="365760" cy="365760"/>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16" name="Text 14"/>
          <p:cNvSpPr txBox="1"/>
          <p:nvPr/>
        </p:nvSpPr>
        <p:spPr>
          <a:xfrm>
            <a:off x="4937760" y="1188720"/>
            <a:ext cx="3749040" cy="731520"/>
          </a:xfrm>
          <a:prstGeom prst="rect">
            <a:avLst/>
          </a:prstGeom>
          <a:noFill/>
          <a:ln/>
        </p:spPr>
        <p:txBody>
          <a:bodyPr wrap="square" lIns="0" tIns="0" rIns="0" bIns="0" rtlCol="0" anchor="t"/>
          <a:lstStyle/>
          <a:p>
            <a:pPr marL="0" indent="0" algn="l">
              <a:buNone/>
            </a:pPr>
            <a:r>
              <a:rPr lang="en-US" sz="1500" b="1" dirty="0">
                <a:solidFill>
                  <a:schemeClr val="tx1"/>
                </a:solidFill>
              </a:rPr>
              <a:t>Load saved files</a:t>
            </a:r>
            <a:endParaRPr lang="en-US" sz="1400" dirty="0"/>
          </a:p>
          <a:p>
            <a:pPr marL="0" indent="0" algn="l">
              <a:buNone/>
            </a:pPr>
            <a:r>
              <a:rPr lang="en-US" sz="1400" dirty="0">
                <a:solidFill>
                  <a:schemeClr val="tx1"/>
                </a:solidFill>
              </a:rPr>
              <a:t>Model and feature columns are read once from the pickle files</a:t>
            </a:r>
            <a:endParaRPr lang="en-US" sz="1400" dirty="0"/>
          </a:p>
        </p:txBody>
      </p:sp>
      <p:sp>
        <p:nvSpPr>
          <p:cNvPr id="17" name="Number 2"/>
          <p:cNvSpPr txBox="1"/>
          <p:nvPr/>
        </p:nvSpPr>
        <p:spPr>
          <a:xfrm>
            <a:off x="4389120" y="2057400"/>
            <a:ext cx="365760" cy="365760"/>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8" name="Text 16"/>
          <p:cNvSpPr txBox="1"/>
          <p:nvPr/>
        </p:nvSpPr>
        <p:spPr>
          <a:xfrm>
            <a:off x="4937760" y="1965960"/>
            <a:ext cx="3749040" cy="731520"/>
          </a:xfrm>
          <a:prstGeom prst="rect">
            <a:avLst/>
          </a:prstGeom>
          <a:noFill/>
          <a:ln/>
        </p:spPr>
        <p:txBody>
          <a:bodyPr wrap="square" lIns="0" tIns="0" rIns="0" bIns="0" rtlCol="0" anchor="t"/>
          <a:lstStyle/>
          <a:p>
            <a:pPr marL="0" indent="0" algn="l">
              <a:buNone/>
            </a:pPr>
            <a:r>
              <a:rPr lang="en-US" sz="1500" b="1" dirty="0">
                <a:solidFill>
                  <a:schemeClr val="tx1"/>
                </a:solidFill>
              </a:rPr>
              <a:t>Take user input</a:t>
            </a:r>
            <a:endParaRPr lang="en-US" sz="1400" dirty="0"/>
          </a:p>
          <a:p>
            <a:pPr marL="0" indent="0" algn="l">
              <a:buNone/>
            </a:pPr>
            <a:r>
              <a:rPr lang="en-US" sz="1400" dirty="0">
                <a:solidFill>
                  <a:schemeClr val="tx1"/>
                </a:solidFill>
              </a:rPr>
              <a:t>Location, area (300–20,000 sq. ft.) and bedrooms (1–10)</a:t>
            </a:r>
            <a:endParaRPr lang="en-US" sz="1400" dirty="0"/>
          </a:p>
        </p:txBody>
      </p:sp>
      <p:sp>
        <p:nvSpPr>
          <p:cNvPr id="19" name="Number 3"/>
          <p:cNvSpPr txBox="1"/>
          <p:nvPr/>
        </p:nvSpPr>
        <p:spPr>
          <a:xfrm>
            <a:off x="4389120" y="2834640"/>
            <a:ext cx="365760" cy="365760"/>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20" name="Text 18"/>
          <p:cNvSpPr txBox="1"/>
          <p:nvPr/>
        </p:nvSpPr>
        <p:spPr>
          <a:xfrm>
            <a:off x="4937760" y="2743200"/>
            <a:ext cx="3749040" cy="731520"/>
          </a:xfrm>
          <a:prstGeom prst="rect">
            <a:avLst/>
          </a:prstGeom>
          <a:noFill/>
          <a:ln/>
        </p:spPr>
        <p:txBody>
          <a:bodyPr wrap="square" lIns="0" tIns="0" rIns="0" bIns="0" rtlCol="0" anchor="t"/>
          <a:lstStyle/>
          <a:p>
            <a:pPr marL="0" indent="0" algn="l">
              <a:buNone/>
            </a:pPr>
            <a:r>
              <a:rPr lang="en-US" sz="1500" b="1" dirty="0">
                <a:solidFill>
                  <a:schemeClr val="tx1"/>
                </a:solidFill>
              </a:rPr>
              <a:t>Predict</a:t>
            </a:r>
            <a:endParaRPr lang="en-US" sz="1400" dirty="0"/>
          </a:p>
          <a:p>
            <a:pPr marL="0" indent="0" algn="l">
              <a:buNone/>
            </a:pPr>
            <a:r>
              <a:rPr lang="en-US" sz="1400" dirty="0">
                <a:solidFill>
                  <a:schemeClr val="tx1"/>
                </a:solidFill>
              </a:rPr>
              <a:t>Build a one-row table of zeros, fill the inputs, call model.predict</a:t>
            </a:r>
            <a:endParaRPr lang="en-US" sz="1400" dirty="0"/>
          </a:p>
        </p:txBody>
      </p:sp>
      <p:sp>
        <p:nvSpPr>
          <p:cNvPr id="21" name="Number 4"/>
          <p:cNvSpPr txBox="1"/>
          <p:nvPr/>
        </p:nvSpPr>
        <p:spPr>
          <a:xfrm>
            <a:off x="4389120" y="3611880"/>
            <a:ext cx="365760" cy="365760"/>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22" name="Text 20"/>
          <p:cNvSpPr txBox="1"/>
          <p:nvPr/>
        </p:nvSpPr>
        <p:spPr>
          <a:xfrm>
            <a:off x="4937760" y="3520440"/>
            <a:ext cx="3749040" cy="731520"/>
          </a:xfrm>
          <a:prstGeom prst="rect">
            <a:avLst/>
          </a:prstGeom>
          <a:noFill/>
          <a:ln/>
        </p:spPr>
        <p:txBody>
          <a:bodyPr wrap="square" lIns="0" tIns="0" rIns="0" bIns="0" rtlCol="0" anchor="t"/>
          <a:lstStyle/>
          <a:p>
            <a:pPr marL="0" indent="0" algn="l">
              <a:buNone/>
            </a:pPr>
            <a:r>
              <a:rPr lang="en-US" sz="1500" b="1" dirty="0">
                <a:solidFill>
                  <a:schemeClr val="tx1"/>
                </a:solidFill>
              </a:rPr>
              <a:t>Show the result</a:t>
            </a:r>
            <a:endParaRPr lang="en-US" sz="1400" dirty="0"/>
          </a:p>
          <a:p>
            <a:pPr marL="0" indent="0" algn="l">
              <a:buNone/>
            </a:pPr>
            <a:r>
              <a:rPr lang="en-US" sz="1400" dirty="0">
                <a:solidFill>
                  <a:schemeClr val="tx1"/>
                </a:solidFill>
              </a:rPr>
              <a:t>Price in crores (100 lakhs or more) or lakhs, plus price per sq. ft.</a:t>
            </a:r>
            <a:endParaRPr lang="en-US" sz="1400" dirty="0"/>
          </a:p>
        </p:txBody>
      </p:sp>
      <p:sp>
        <p:nvSpPr>
          <p:cNvPr id="23" name="Text 21"/>
          <p:cNvSpPr txBox="1"/>
          <p:nvPr/>
        </p:nvSpPr>
        <p:spPr>
          <a:xfrm>
            <a:off x="457200" y="4389120"/>
            <a:ext cx="7772400" cy="274320"/>
          </a:xfrm>
          <a:prstGeom prst="rect">
            <a:avLst/>
          </a:prstGeom>
          <a:noFill/>
          <a:ln/>
        </p:spPr>
        <p:txBody>
          <a:bodyPr wrap="square" lIns="0" tIns="0" rIns="0" bIns="0" rtlCol="0" anchor="t"/>
          <a:lstStyle/>
          <a:p>
            <a:pPr marL="0" indent="0" algn="l">
              <a:buNone/>
            </a:pPr>
            <a:r>
              <a:rPr lang="en-US" sz="1200" dirty="0">
                <a:solidFill>
                  <a:schemeClr val="tx1"/>
                </a:solidFill>
              </a:rPr>
              <a:t>Built with Python in VS Code: pandas, NumPy, scikit-learn, pickle, Streamlit (runs at localhost:8501).</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rPr>
              <a:t>Results: Sample Prediction</a:t>
            </a:r>
            <a:endParaRPr lang="en-US" sz="3200" dirty="0"/>
          </a:p>
        </p:txBody>
      </p:sp>
      <p:sp>
        <p:nvSpPr>
          <p:cNvPr id="3" name="Input bar"/>
          <p:cNvSpPr/>
          <p:nvPr/>
        </p:nvSpPr>
        <p:spPr>
          <a:xfrm>
            <a:off x="457200" y="1188720"/>
            <a:ext cx="8229600" cy="548640"/>
          </a:xfrm>
          <a:prstGeom prst="roundRect">
            <a:avLst>
              <a:gd name="adj" fmla="val 20000"/>
            </a:avLst>
          </a:prstGeom>
          <a:solidFill>
            <a:schemeClr val="bg2"/>
          </a:solidFill>
          <a:ln w="12700">
            <a:solidFill>
              <a:schemeClr val="bg2"/>
            </a:solidFill>
            <a:prstDash val="solid"/>
          </a:ln>
        </p:spPr>
      </p:sp>
      <p:sp>
        <p:nvSpPr>
          <p:cNvPr id="4" name="Text 2"/>
          <p:cNvSpPr txBox="1"/>
          <p:nvPr/>
        </p:nvSpPr>
        <p:spPr>
          <a:xfrm>
            <a:off x="685800" y="1188720"/>
            <a:ext cx="7772400" cy="548640"/>
          </a:xfrm>
          <a:prstGeom prst="rect">
            <a:avLst/>
          </a:prstGeom>
          <a:noFill/>
          <a:ln/>
        </p:spPr>
        <p:txBody>
          <a:bodyPr wrap="square" lIns="0" tIns="0" rIns="0" bIns="0" rtlCol="0" anchor="ctr"/>
          <a:lstStyle/>
          <a:p>
            <a:pPr marL="0" indent="0" algn="l">
              <a:buNone/>
            </a:pPr>
            <a:r>
              <a:rPr lang="en-US" sz="1600" b="1" dirty="0">
                <a:solidFill>
                  <a:schemeClr val="accent2"/>
                </a:solidFill>
              </a:rPr>
              <a:t>Input:  </a:t>
            </a:r>
            <a:r>
              <a:rPr lang="en-US" sz="1600" dirty="0">
                <a:solidFill>
                  <a:schemeClr val="tx1"/>
                </a:solidFill>
              </a:rPr>
              <a:t>Kokapet  ·  1,500 sq. ft.  ·  3 bedrooms</a:t>
            </a:r>
            <a:endParaRPr lang="en-US" sz="1600" dirty="0"/>
          </a:p>
        </p:txBody>
      </p:sp>
      <p:sp>
        <p:nvSpPr>
          <p:cNvPr id="5" name="Stat card 1"/>
          <p:cNvSpPr/>
          <p:nvPr/>
        </p:nvSpPr>
        <p:spPr>
          <a:xfrm>
            <a:off x="457200" y="1965960"/>
            <a:ext cx="2560320" cy="1691640"/>
          </a:xfrm>
          <a:prstGeom prst="roundRect">
            <a:avLst>
              <a:gd name="adj" fmla="val 6486"/>
            </a:avLst>
          </a:prstGeom>
          <a:solidFill>
            <a:schemeClr val="bg2"/>
          </a:solidFill>
          <a:ln w="12700">
            <a:solidFill>
              <a:schemeClr val="bg2"/>
            </a:solidFill>
            <a:prstDash val="solid"/>
          </a:ln>
        </p:spPr>
      </p:sp>
      <p:sp>
        <p:nvSpPr>
          <p:cNvPr id="6" name="Text 4"/>
          <p:cNvSpPr txBox="1"/>
          <p:nvPr/>
        </p:nvSpPr>
        <p:spPr>
          <a:xfrm>
            <a:off x="548640" y="2194560"/>
            <a:ext cx="2377440" cy="731520"/>
          </a:xfrm>
          <a:prstGeom prst="rect">
            <a:avLst/>
          </a:prstGeom>
          <a:noFill/>
          <a:ln/>
        </p:spPr>
        <p:txBody>
          <a:bodyPr wrap="square" lIns="0" tIns="0" rIns="0" bIns="0" rtlCol="0" anchor="ctr"/>
          <a:lstStyle/>
          <a:p>
            <a:pPr marL="0" indent="0" algn="ctr">
              <a:buNone/>
            </a:pPr>
            <a:r>
              <a:rPr lang="en-US" sz="4000" b="1" dirty="0">
                <a:solidFill>
                  <a:schemeClr val="tx2"/>
                </a:solidFill>
              </a:rPr>
              <a:t>₹1.32 Cr</a:t>
            </a:r>
            <a:endParaRPr lang="en-US" sz="4000" dirty="0"/>
          </a:p>
        </p:txBody>
      </p:sp>
      <p:sp>
        <p:nvSpPr>
          <p:cNvPr id="7" name="Text 5"/>
          <p:cNvSpPr txBox="1"/>
          <p:nvPr/>
        </p:nvSpPr>
        <p:spPr>
          <a:xfrm>
            <a:off x="548640" y="3017520"/>
            <a:ext cx="2377440" cy="365760"/>
          </a:xfrm>
          <a:prstGeom prst="rect">
            <a:avLst/>
          </a:prstGeom>
          <a:noFill/>
          <a:ln/>
        </p:spPr>
        <p:txBody>
          <a:bodyPr wrap="square" lIns="0" tIns="0" rIns="0" bIns="0" rtlCol="0" anchor="t"/>
          <a:lstStyle/>
          <a:p>
            <a:pPr marL="0" indent="0" algn="ctr">
              <a:buNone/>
            </a:pPr>
            <a:r>
              <a:rPr lang="en-US" sz="1400" dirty="0">
                <a:solidFill>
                  <a:schemeClr val="tx1"/>
                </a:solidFill>
              </a:rPr>
              <a:t>Estimated price</a:t>
            </a:r>
            <a:endParaRPr lang="en-US" sz="1400" dirty="0"/>
          </a:p>
        </p:txBody>
      </p:sp>
      <p:sp>
        <p:nvSpPr>
          <p:cNvPr id="8" name="Stat card 2"/>
          <p:cNvSpPr/>
          <p:nvPr/>
        </p:nvSpPr>
        <p:spPr>
          <a:xfrm>
            <a:off x="3291840" y="1965960"/>
            <a:ext cx="2560320" cy="1691640"/>
          </a:xfrm>
          <a:prstGeom prst="roundRect">
            <a:avLst>
              <a:gd name="adj" fmla="val 6486"/>
            </a:avLst>
          </a:prstGeom>
          <a:solidFill>
            <a:schemeClr val="bg2"/>
          </a:solidFill>
          <a:ln w="12700">
            <a:solidFill>
              <a:schemeClr val="bg2"/>
            </a:solidFill>
            <a:prstDash val="solid"/>
          </a:ln>
        </p:spPr>
      </p:sp>
      <p:sp>
        <p:nvSpPr>
          <p:cNvPr id="9" name="Text 7"/>
          <p:cNvSpPr txBox="1"/>
          <p:nvPr/>
        </p:nvSpPr>
        <p:spPr>
          <a:xfrm>
            <a:off x="3383280" y="2194560"/>
            <a:ext cx="2377440" cy="731520"/>
          </a:xfrm>
          <a:prstGeom prst="rect">
            <a:avLst/>
          </a:prstGeom>
          <a:noFill/>
          <a:ln/>
        </p:spPr>
        <p:txBody>
          <a:bodyPr wrap="square" lIns="0" tIns="0" rIns="0" bIns="0" rtlCol="0" anchor="ctr"/>
          <a:lstStyle/>
          <a:p>
            <a:pPr marL="0" indent="0" algn="ctr">
              <a:buNone/>
            </a:pPr>
            <a:r>
              <a:rPr lang="en-US" sz="4000" b="1" dirty="0">
                <a:solidFill>
                  <a:schemeClr val="accent2"/>
                </a:solidFill>
              </a:rPr>
              <a:t>₹132.09 L</a:t>
            </a:r>
            <a:endParaRPr lang="en-US" sz="4000" dirty="0"/>
          </a:p>
        </p:txBody>
      </p:sp>
      <p:sp>
        <p:nvSpPr>
          <p:cNvPr id="10" name="Text 8"/>
          <p:cNvSpPr txBox="1"/>
          <p:nvPr/>
        </p:nvSpPr>
        <p:spPr>
          <a:xfrm>
            <a:off x="3383280" y="3017520"/>
            <a:ext cx="2377440" cy="365760"/>
          </a:xfrm>
          <a:prstGeom prst="rect">
            <a:avLst/>
          </a:prstGeom>
          <a:noFill/>
          <a:ln/>
        </p:spPr>
        <p:txBody>
          <a:bodyPr wrap="square" lIns="0" tIns="0" rIns="0" bIns="0" rtlCol="0" anchor="t"/>
          <a:lstStyle/>
          <a:p>
            <a:pPr marL="0" indent="0" algn="ctr">
              <a:buNone/>
            </a:pPr>
            <a:r>
              <a:rPr lang="en-US" sz="1400" dirty="0">
                <a:solidFill>
                  <a:schemeClr val="tx1"/>
                </a:solidFill>
              </a:rPr>
              <a:t>Price in lakhs</a:t>
            </a:r>
            <a:endParaRPr lang="en-US" sz="1400" dirty="0"/>
          </a:p>
        </p:txBody>
      </p:sp>
      <p:sp>
        <p:nvSpPr>
          <p:cNvPr id="11" name="Stat card 3"/>
          <p:cNvSpPr/>
          <p:nvPr/>
        </p:nvSpPr>
        <p:spPr>
          <a:xfrm>
            <a:off x="6126480" y="1965960"/>
            <a:ext cx="2560320" cy="1691640"/>
          </a:xfrm>
          <a:prstGeom prst="roundRect">
            <a:avLst>
              <a:gd name="adj" fmla="val 6486"/>
            </a:avLst>
          </a:prstGeom>
          <a:solidFill>
            <a:schemeClr val="bg2"/>
          </a:solidFill>
          <a:ln w="12700">
            <a:solidFill>
              <a:schemeClr val="bg2"/>
            </a:solidFill>
            <a:prstDash val="solid"/>
          </a:ln>
        </p:spPr>
      </p:sp>
      <p:sp>
        <p:nvSpPr>
          <p:cNvPr id="12" name="Text 10"/>
          <p:cNvSpPr txBox="1"/>
          <p:nvPr/>
        </p:nvSpPr>
        <p:spPr>
          <a:xfrm>
            <a:off x="6217920" y="2194560"/>
            <a:ext cx="2377440" cy="731520"/>
          </a:xfrm>
          <a:prstGeom prst="rect">
            <a:avLst/>
          </a:prstGeom>
          <a:noFill/>
          <a:ln/>
        </p:spPr>
        <p:txBody>
          <a:bodyPr wrap="square" lIns="0" tIns="0" rIns="0" bIns="0" rtlCol="0" anchor="ctr"/>
          <a:lstStyle/>
          <a:p>
            <a:pPr marL="0" indent="0" algn="ctr">
              <a:buNone/>
            </a:pPr>
            <a:r>
              <a:rPr lang="en-US" sz="4000" b="1" dirty="0">
                <a:solidFill>
                  <a:schemeClr val="accent4"/>
                </a:solidFill>
              </a:rPr>
              <a:t>₹8,806</a:t>
            </a:r>
            <a:endParaRPr lang="en-US" sz="4000" dirty="0"/>
          </a:p>
        </p:txBody>
      </p:sp>
      <p:sp>
        <p:nvSpPr>
          <p:cNvPr id="13" name="Text 11"/>
          <p:cNvSpPr txBox="1"/>
          <p:nvPr/>
        </p:nvSpPr>
        <p:spPr>
          <a:xfrm>
            <a:off x="6217920" y="3017520"/>
            <a:ext cx="2377440" cy="365760"/>
          </a:xfrm>
          <a:prstGeom prst="rect">
            <a:avLst/>
          </a:prstGeom>
          <a:noFill/>
          <a:ln/>
        </p:spPr>
        <p:txBody>
          <a:bodyPr wrap="square" lIns="0" tIns="0" rIns="0" bIns="0" rtlCol="0" anchor="t"/>
          <a:lstStyle/>
          <a:p>
            <a:pPr marL="0" indent="0" algn="ctr">
              <a:buNone/>
            </a:pPr>
            <a:r>
              <a:rPr lang="en-US" sz="1400" dirty="0">
                <a:solidFill>
                  <a:schemeClr val="tx1"/>
                </a:solidFill>
              </a:rPr>
              <a:t>Price per sq. ft.</a:t>
            </a:r>
            <a:endParaRPr lang="en-US" sz="1400" dirty="0"/>
          </a:p>
        </p:txBody>
      </p:sp>
      <p:sp>
        <p:nvSpPr>
          <p:cNvPr id="14" name="Text 12"/>
          <p:cNvSpPr txBox="1"/>
          <p:nvPr/>
        </p:nvSpPr>
        <p:spPr>
          <a:xfrm>
            <a:off x="457200" y="3840480"/>
            <a:ext cx="8229600" cy="777240"/>
          </a:xfrm>
          <a:prstGeom prst="rect">
            <a:avLst/>
          </a:prstGeom>
          <a:noFill/>
          <a:ln/>
        </p:spPr>
        <p:txBody>
          <a:bodyPr wrap="square" lIns="0" tIns="0" rIns="0" bIns="0" rtlCol="0" anchor="t"/>
          <a:lstStyle/>
          <a:p>
            <a:pPr marL="0" indent="0" algn="l">
              <a:spcAft>
                <a:spcPts val="600"/>
              </a:spcAft>
              <a:buNone/>
            </a:pPr>
            <a:r>
              <a:rPr lang="en-US" sz="1400" b="1" dirty="0">
                <a:solidFill>
                  <a:schemeClr val="tx1"/>
                </a:solidFill>
              </a:rPr>
              <a:t>Consistency check: 132.09 lakhs = 1.32 crores, and 132.09 lakhs ÷ 1,500 sq. ft. ≈ ₹8,806 per sq. ft.</a:t>
            </a:r>
            <a:endParaRPr lang="en-US" sz="1400" dirty="0"/>
          </a:p>
          <a:p>
            <a:pPr marL="0" indent="0" algn="l">
              <a:buNone/>
            </a:pPr>
            <a:r>
              <a:rPr lang="en-US" sz="1400" dirty="0">
                <a:solidFill>
                  <a:schemeClr val="tx1"/>
                </a:solidFill>
              </a:rPr>
              <a:t>Model quality (MAE, MSE, RMSE, R²) is reported on the test set by train_model.py.</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rPr>
              <a:t>Expected Outcome and Conclusion</a:t>
            </a:r>
            <a:endParaRPr lang="en-US" sz="3200" dirty="0"/>
          </a:p>
        </p:txBody>
      </p:sp>
      <p:sp>
        <p:nvSpPr>
          <p:cNvPr id="3" name="Outcome card"/>
          <p:cNvSpPr/>
          <p:nvPr/>
        </p:nvSpPr>
        <p:spPr>
          <a:xfrm>
            <a:off x="457200" y="1097280"/>
            <a:ext cx="4023360" cy="2651760"/>
          </a:xfrm>
          <a:prstGeom prst="roundRect">
            <a:avLst>
              <a:gd name="adj" fmla="val 4138"/>
            </a:avLst>
          </a:prstGeom>
          <a:solidFill>
            <a:schemeClr val="bg2"/>
          </a:solidFill>
          <a:ln w="12700">
            <a:solidFill>
              <a:schemeClr val="bg2"/>
            </a:solidFill>
            <a:prstDash val="solid"/>
          </a:ln>
        </p:spPr>
      </p:sp>
      <p:sp>
        <p:nvSpPr>
          <p:cNvPr id="4" name="Text 2"/>
          <p:cNvSpPr txBox="1"/>
          <p:nvPr/>
        </p:nvSpPr>
        <p:spPr>
          <a:xfrm>
            <a:off x="685800" y="1234440"/>
            <a:ext cx="3566160" cy="320040"/>
          </a:xfrm>
          <a:prstGeom prst="rect">
            <a:avLst/>
          </a:prstGeom>
          <a:noFill/>
          <a:ln/>
        </p:spPr>
        <p:txBody>
          <a:bodyPr wrap="square" lIns="0" tIns="0" rIns="0" bIns="0" rtlCol="0" anchor="t"/>
          <a:lstStyle/>
          <a:p>
            <a:pPr marL="0" indent="0" algn="l">
              <a:buNone/>
            </a:pPr>
            <a:r>
              <a:rPr lang="en-US" sz="1600" b="1" dirty="0">
                <a:solidFill>
                  <a:schemeClr val="accent2"/>
                </a:solidFill>
              </a:rPr>
              <a:t>Expected outcome</a:t>
            </a:r>
            <a:endParaRPr lang="en-US" sz="1600" dirty="0"/>
          </a:p>
        </p:txBody>
      </p:sp>
      <p:sp>
        <p:nvSpPr>
          <p:cNvPr id="5" name="Text 3"/>
          <p:cNvSpPr txBox="1"/>
          <p:nvPr/>
        </p:nvSpPr>
        <p:spPr>
          <a:xfrm>
            <a:off x="685800" y="1645920"/>
            <a:ext cx="3566160" cy="2011680"/>
          </a:xfrm>
          <a:prstGeom prst="rect">
            <a:avLst/>
          </a:prstGeom>
          <a:noFill/>
          <a:ln/>
        </p:spPr>
        <p:txBody>
          <a:bodyPr wrap="square" lIns="0" tIns="0" rIns="0" bIns="0" rtlCol="0" anchor="t"/>
          <a:lstStyle/>
          <a:p>
            <a:pPr marL="342900" indent="-342900" algn="l">
              <a:spcAft>
                <a:spcPts val="500"/>
              </a:spcAft>
              <a:buSzPct val="100000"/>
              <a:buChar char="•"/>
            </a:pPr>
            <a:r>
              <a:rPr lang="en-US" sz="1400" dirty="0">
                <a:solidFill>
                  <a:schemeClr val="tx1"/>
                </a:solidFill>
              </a:rPr>
              <a:t>Clean dataset with numeric area, bedrooms and one-hot locations</a:t>
            </a:r>
            <a:endParaRPr lang="en-US" sz="1400" dirty="0"/>
          </a:p>
          <a:p>
            <a:pPr marL="342900" indent="-342900" algn="l">
              <a:spcAft>
                <a:spcPts val="500"/>
              </a:spcAft>
              <a:buSzPct val="100000"/>
              <a:buChar char="•"/>
            </a:pPr>
            <a:r>
              <a:rPr lang="en-US" sz="1400" dirty="0">
                <a:solidFill>
                  <a:schemeClr val="tx1"/>
                </a:solidFill>
              </a:rPr>
              <a:t>Trained Random Forest saved as pickle files</a:t>
            </a:r>
            <a:endParaRPr lang="en-US" sz="1400" dirty="0"/>
          </a:p>
          <a:p>
            <a:pPr marL="342900" indent="-342900" algn="l">
              <a:spcAft>
                <a:spcPts val="500"/>
              </a:spcAft>
              <a:buSzPct val="100000"/>
              <a:buChar char="•"/>
            </a:pPr>
            <a:r>
              <a:rPr lang="en-US" sz="1400" dirty="0">
                <a:solidFill>
                  <a:schemeClr val="tx1"/>
                </a:solidFill>
              </a:rPr>
              <a:t>Measured MAE, MSE, RMSE and R²</a:t>
            </a:r>
            <a:endParaRPr lang="en-US" sz="1400" dirty="0"/>
          </a:p>
          <a:p>
            <a:pPr marL="342900" indent="-342900" algn="l">
              <a:spcAft>
                <a:spcPts val="500"/>
              </a:spcAft>
              <a:buSzPct val="100000"/>
              <a:buChar char="•"/>
            </a:pPr>
            <a:r>
              <a:rPr lang="en-US" sz="1400" dirty="0">
                <a:solidFill>
                  <a:schemeClr val="tx1"/>
                </a:solidFill>
              </a:rPr>
              <a:t>Web app with instant price for any available location</a:t>
            </a:r>
            <a:endParaRPr lang="en-US" sz="1400" dirty="0"/>
          </a:p>
        </p:txBody>
      </p:sp>
      <p:sp>
        <p:nvSpPr>
          <p:cNvPr id="6" name="Future work card"/>
          <p:cNvSpPr/>
          <p:nvPr/>
        </p:nvSpPr>
        <p:spPr>
          <a:xfrm>
            <a:off x="4663440" y="1097280"/>
            <a:ext cx="4023360" cy="2651760"/>
          </a:xfrm>
          <a:prstGeom prst="roundRect">
            <a:avLst>
              <a:gd name="adj" fmla="val 4138"/>
            </a:avLst>
          </a:prstGeom>
          <a:solidFill>
            <a:schemeClr val="bg2"/>
          </a:solidFill>
          <a:ln w="12700">
            <a:solidFill>
              <a:schemeClr val="bg2"/>
            </a:solidFill>
            <a:prstDash val="solid"/>
          </a:ln>
        </p:spPr>
      </p:sp>
      <p:sp>
        <p:nvSpPr>
          <p:cNvPr id="7" name="Text 5"/>
          <p:cNvSpPr txBox="1"/>
          <p:nvPr/>
        </p:nvSpPr>
        <p:spPr>
          <a:xfrm>
            <a:off x="4892040" y="1234440"/>
            <a:ext cx="3566160" cy="320040"/>
          </a:xfrm>
          <a:prstGeom prst="rect">
            <a:avLst/>
          </a:prstGeom>
          <a:noFill/>
          <a:ln/>
        </p:spPr>
        <p:txBody>
          <a:bodyPr wrap="square" lIns="0" tIns="0" rIns="0" bIns="0" rtlCol="0" anchor="t"/>
          <a:lstStyle/>
          <a:p>
            <a:pPr marL="0" indent="0" algn="l">
              <a:buNone/>
            </a:pPr>
            <a:r>
              <a:rPr lang="en-US" sz="1600" b="1" dirty="0">
                <a:solidFill>
                  <a:schemeClr val="accent2"/>
                </a:solidFill>
              </a:rPr>
              <a:t>Future work</a:t>
            </a:r>
            <a:endParaRPr lang="en-US" sz="1600" dirty="0"/>
          </a:p>
        </p:txBody>
      </p:sp>
      <p:sp>
        <p:nvSpPr>
          <p:cNvPr id="8" name="Text 6"/>
          <p:cNvSpPr txBox="1"/>
          <p:nvPr/>
        </p:nvSpPr>
        <p:spPr>
          <a:xfrm>
            <a:off x="4892040" y="1645920"/>
            <a:ext cx="3566160" cy="2011680"/>
          </a:xfrm>
          <a:prstGeom prst="rect">
            <a:avLst/>
          </a:prstGeom>
          <a:noFill/>
          <a:ln/>
        </p:spPr>
        <p:txBody>
          <a:bodyPr wrap="square" lIns="0" tIns="0" rIns="0" bIns="0" rtlCol="0" anchor="t"/>
          <a:lstStyle/>
          <a:p>
            <a:pPr marL="342900" indent="-342900" algn="l">
              <a:spcAft>
                <a:spcPts val="500"/>
              </a:spcAft>
              <a:buSzPct val="100000"/>
              <a:buChar char="•"/>
            </a:pPr>
            <a:r>
              <a:rPr lang="en-US" sz="1400" dirty="0">
                <a:solidFill>
                  <a:schemeClr val="tx1"/>
                </a:solidFill>
              </a:rPr>
              <a:t>Add property age, floor, amenities and distance to centre</a:t>
            </a:r>
            <a:endParaRPr lang="en-US" sz="1400" dirty="0"/>
          </a:p>
          <a:p>
            <a:pPr marL="342900" indent="-342900" algn="l">
              <a:spcAft>
                <a:spcPts val="500"/>
              </a:spcAft>
              <a:buSzPct val="100000"/>
              <a:buChar char="•"/>
            </a:pPr>
            <a:r>
              <a:rPr lang="en-US" sz="1400" dirty="0">
                <a:solidFill>
                  <a:schemeClr val="tx1"/>
                </a:solidFill>
              </a:rPr>
              <a:t>Compare with linear regression and gradient boosting</a:t>
            </a:r>
            <a:endParaRPr lang="en-US" sz="1400" dirty="0"/>
          </a:p>
          <a:p>
            <a:pPr marL="342900" indent="-342900" algn="l">
              <a:spcAft>
                <a:spcPts val="500"/>
              </a:spcAft>
              <a:buSzPct val="100000"/>
              <a:buChar char="•"/>
            </a:pPr>
            <a:r>
              <a:rPr lang="en-US" sz="1400" dirty="0">
                <a:solidFill>
                  <a:schemeClr val="tx1"/>
                </a:solidFill>
              </a:rPr>
              <a:t>Tune hyperparameters; use more recent data</a:t>
            </a:r>
            <a:endParaRPr lang="en-US" sz="1400" dirty="0"/>
          </a:p>
          <a:p>
            <a:pPr marL="342900" indent="-342900" algn="l">
              <a:spcAft>
                <a:spcPts val="500"/>
              </a:spcAft>
              <a:buSzPct val="100000"/>
              <a:buChar char="•"/>
            </a:pPr>
            <a:r>
              <a:rPr lang="en-US" sz="1400" dirty="0">
                <a:solidFill>
                  <a:schemeClr val="tx1"/>
                </a:solidFill>
              </a:rPr>
              <a:t>Deploy the app online for public use</a:t>
            </a:r>
            <a:endParaRPr lang="en-US" sz="1400" dirty="0"/>
          </a:p>
        </p:txBody>
      </p:sp>
      <p:sp>
        <p:nvSpPr>
          <p:cNvPr id="9" name="Conclusion banner"/>
          <p:cNvSpPr/>
          <p:nvPr/>
        </p:nvSpPr>
        <p:spPr>
          <a:xfrm>
            <a:off x="457200" y="3886200"/>
            <a:ext cx="8229600" cy="777240"/>
          </a:xfrm>
          <a:prstGeom prst="roundRect">
            <a:avLst>
              <a:gd name="adj" fmla="val 14118"/>
            </a:avLst>
          </a:prstGeom>
          <a:solidFill>
            <a:schemeClr val="tx2"/>
          </a:solidFill>
          <a:ln w="12700">
            <a:solidFill>
              <a:schemeClr val="tx2"/>
            </a:solidFill>
            <a:prstDash val="solid"/>
          </a:ln>
        </p:spPr>
      </p:sp>
      <p:sp>
        <p:nvSpPr>
          <p:cNvPr id="10" name="Text 8"/>
          <p:cNvSpPr txBox="1"/>
          <p:nvPr/>
        </p:nvSpPr>
        <p:spPr>
          <a:xfrm>
            <a:off x="685800" y="3886200"/>
            <a:ext cx="7772400" cy="777240"/>
          </a:xfrm>
          <a:prstGeom prst="rect">
            <a:avLst/>
          </a:prstGeom>
          <a:noFill/>
          <a:ln/>
        </p:spPr>
        <p:txBody>
          <a:bodyPr wrap="square" lIns="0" tIns="0" rIns="0" bIns="0" rtlCol="0" anchor="ctr"/>
          <a:lstStyle/>
          <a:p>
            <a:pPr marL="0" indent="0" algn="l">
              <a:buNone/>
            </a:pPr>
            <a:r>
              <a:rPr lang="en-US" sz="1400" b="1" dirty="0">
                <a:solidFill>
                  <a:schemeClr val="bg1"/>
                </a:solidFill>
              </a:rPr>
              <a:t>Conclusion: a Random Forest trained on area, bedrooms and location predicts Hyderabad house prices and is delivered as a ready-to-use Streamlit app.</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Hyderabad Homes">
  <a:themeElements>
    <a:clrScheme name="Hyderabad Homes">
      <a:dk1>
        <a:srgbClr val="1B2B34"/>
      </a:dk1>
      <a:lt1>
        <a:srgbClr val="FFFFFF"/>
      </a:lt1>
      <a:dk2>
        <a:srgbClr val="0B3C49"/>
      </a:dk2>
      <a:lt2>
        <a:srgbClr val="E8F1F1"/>
      </a:lt2>
      <a:accent1>
        <a:srgbClr val="E9A23B"/>
      </a:accent1>
      <a:accent2>
        <a:srgbClr val="1C7C7D"/>
      </a:accent2>
      <a:accent3>
        <a:srgbClr val="5FA8A0"/>
      </a:accent3>
      <a:accent4>
        <a:srgbClr val="C8553D"/>
      </a:accent4>
      <a:accent5>
        <a:srgbClr val="7A8F99"/>
      </a:accent5>
      <a:accent6>
        <a:srgbClr val="2F6F8F"/>
      </a:accent6>
      <a:hlink>
        <a:srgbClr val="1C7C7D"/>
      </a:hlink>
      <a:folHlink>
        <a:srgbClr val="7A8F99"/>
      </a:folHlink>
    </a:clrScheme>
    <a:fontScheme name="Hyderabad Home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Hyderabad Homes</vt:lpstr>
      <vt:lpstr>House Price Prediction using Machine Learning</vt:lpstr>
      <vt:lpstr>Problem Statement</vt:lpstr>
      <vt:lpstr>Objectives</vt:lpstr>
      <vt:lpstr>Methodology: ML Pipeline</vt:lpstr>
      <vt:lpstr>Dataset and Feature Engineering</vt:lpstr>
      <vt:lpstr>Random Forest Algorithm</vt:lpstr>
      <vt:lpstr>Evaluation Metrics</vt:lpstr>
      <vt:lpstr>Web Application and Setup</vt:lpstr>
      <vt:lpstr>Results: Sample Prediction</vt:lpstr>
      <vt:lpstr>Expected Outcome and Conclusion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House Price Prediction using Machine Learning</dc:title>
  <dc:subject>PptxGenJS Presentation</dc:subject>
  <dc:creator>AI &amp; DS, KLEF Aziz Nagar</dc:creator>
  <cp:lastModifiedBy>Akshay Chandra Abburi</cp:lastModifiedBy>
  <cp:revision>2</cp:revision>
  <dcterms:created xsi:type="dcterms:W3CDTF">2026-10-09T15:18:55Z</dcterms:created>
  <dcterms:modified xsi:type="dcterms:W3CDTF">2026-10-09T15:36:38Z</dcterms:modified>
</cp:coreProperties>
</file>